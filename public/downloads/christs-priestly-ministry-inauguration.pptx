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93" r:id="rId2"/>
    <p:sldId id="294" r:id="rId3"/>
    <p:sldId id="256" r:id="rId4"/>
    <p:sldId id="261" r:id="rId5"/>
    <p:sldId id="257" r:id="rId6"/>
    <p:sldId id="258" r:id="rId7"/>
    <p:sldId id="259" r:id="rId8"/>
    <p:sldId id="260" r:id="rId9"/>
    <p:sldId id="287" r:id="rId10"/>
    <p:sldId id="263" r:id="rId11"/>
    <p:sldId id="262" r:id="rId12"/>
    <p:sldId id="264" r:id="rId13"/>
    <p:sldId id="265" r:id="rId14"/>
    <p:sldId id="266" r:id="rId15"/>
    <p:sldId id="267" r:id="rId16"/>
    <p:sldId id="268" r:id="rId17"/>
    <p:sldId id="269" r:id="rId18"/>
    <p:sldId id="270" r:id="rId19"/>
    <p:sldId id="271" r:id="rId20"/>
    <p:sldId id="273" r:id="rId21"/>
    <p:sldId id="274" r:id="rId22"/>
    <p:sldId id="275" r:id="rId23"/>
    <p:sldId id="276" r:id="rId24"/>
    <p:sldId id="290" r:id="rId25"/>
    <p:sldId id="279" r:id="rId26"/>
    <p:sldId id="280" r:id="rId27"/>
    <p:sldId id="281" r:id="rId28"/>
    <p:sldId id="282" r:id="rId29"/>
    <p:sldId id="284" r:id="rId30"/>
    <p:sldId id="285" r:id="rId31"/>
    <p:sldId id="283" r:id="rId32"/>
    <p:sldId id="286" r:id="rId33"/>
    <p:sldId id="289" r:id="rId34"/>
    <p:sldId id="288" r:id="rId35"/>
    <p:sldId id="277" r:id="rId36"/>
    <p:sldId id="278" r:id="rId37"/>
    <p:sldId id="292" r:id="rId38"/>
    <p:sldId id="29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0" autoAdjust="0"/>
    <p:restoredTop sz="88819" autoAdjust="0"/>
  </p:normalViewPr>
  <p:slideViewPr>
    <p:cSldViewPr snapToGrid="0">
      <p:cViewPr varScale="1">
        <p:scale>
          <a:sx n="46" d="100"/>
          <a:sy n="46" d="100"/>
        </p:scale>
        <p:origin x="121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wayne Ferron" userId="bbf82302c5a4c514" providerId="LiveId" clId="{261FE02F-5188-4019-BC8D-B2589D9E5DE4}"/>
    <pc:docChg chg="modSld">
      <pc:chgData name="Kiwayne Ferron" userId="bbf82302c5a4c514" providerId="LiveId" clId="{261FE02F-5188-4019-BC8D-B2589D9E5DE4}" dt="2026-01-27T02:09:37.943" v="97" actId="20577"/>
      <pc:docMkLst>
        <pc:docMk/>
      </pc:docMkLst>
      <pc:sldChg chg="modNotesTx">
        <pc:chgData name="Kiwayne Ferron" userId="bbf82302c5a4c514" providerId="LiveId" clId="{261FE02F-5188-4019-BC8D-B2589D9E5DE4}" dt="2026-01-27T02:09:37.943" v="97" actId="20577"/>
        <pc:sldMkLst>
          <pc:docMk/>
          <pc:sldMk cId="408920899" sldId="271"/>
        </pc:sldMkLst>
      </pc:sldChg>
      <pc:sldChg chg="modNotesTx">
        <pc:chgData name="Kiwayne Ferron" userId="bbf82302c5a4c514" providerId="LiveId" clId="{261FE02F-5188-4019-BC8D-B2589D9E5DE4}" dt="2026-01-27T02:08:11.682" v="68" actId="20577"/>
        <pc:sldMkLst>
          <pc:docMk/>
          <pc:sldMk cId="1330923726"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99690F-500F-4383-A7D5-F7A5E08D1541}" type="datetimeFigureOut">
              <a:rPr lang="en-JM" smtClean="0"/>
              <a:t>26/1/2026</a:t>
            </a:fld>
            <a:endParaRPr lang="en-J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8A2AE3-D904-49D7-8142-4C7B252B6588}" type="slidenum">
              <a:rPr lang="en-JM" smtClean="0"/>
              <a:t>‹#›</a:t>
            </a:fld>
            <a:endParaRPr lang="en-JM"/>
          </a:p>
        </p:txBody>
      </p:sp>
    </p:spTree>
    <p:extLst>
      <p:ext uri="{BB962C8B-B14F-4D97-AF65-F5344CB8AC3E}">
        <p14:creationId xmlns:p14="http://schemas.microsoft.com/office/powerpoint/2010/main" val="1428735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M" dirty="0"/>
              <a:t>Christ went withing the veil and several scriptures mentions that after His ascension he sat on the right hand of God (AD 31).</a:t>
            </a:r>
          </a:p>
        </p:txBody>
      </p:sp>
      <p:sp>
        <p:nvSpPr>
          <p:cNvPr id="4" name="Slide Number Placeholder 3"/>
          <p:cNvSpPr>
            <a:spLocks noGrp="1"/>
          </p:cNvSpPr>
          <p:nvPr>
            <p:ph type="sldNum" sz="quarter" idx="5"/>
          </p:nvPr>
        </p:nvSpPr>
        <p:spPr/>
        <p:txBody>
          <a:bodyPr/>
          <a:lstStyle/>
          <a:p>
            <a:fld id="{448A2AE3-D904-49D7-8142-4C7B252B6588}" type="slidenum">
              <a:rPr lang="en-JM" smtClean="0"/>
              <a:t>1</a:t>
            </a:fld>
            <a:endParaRPr lang="en-JM"/>
          </a:p>
        </p:txBody>
      </p:sp>
    </p:spTree>
    <p:extLst>
      <p:ext uri="{BB962C8B-B14F-4D97-AF65-F5344CB8AC3E}">
        <p14:creationId xmlns:p14="http://schemas.microsoft.com/office/powerpoint/2010/main" val="1622618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M" dirty="0"/>
          </a:p>
        </p:txBody>
      </p:sp>
      <p:sp>
        <p:nvSpPr>
          <p:cNvPr id="4" name="Slide Number Placeholder 3"/>
          <p:cNvSpPr>
            <a:spLocks noGrp="1"/>
          </p:cNvSpPr>
          <p:nvPr>
            <p:ph type="sldNum" sz="quarter" idx="5"/>
          </p:nvPr>
        </p:nvSpPr>
        <p:spPr/>
        <p:txBody>
          <a:bodyPr/>
          <a:lstStyle/>
          <a:p>
            <a:fld id="{448A2AE3-D904-49D7-8142-4C7B252B6588}" type="slidenum">
              <a:rPr lang="en-JM" smtClean="0"/>
              <a:t>2</a:t>
            </a:fld>
            <a:endParaRPr lang="en-JM"/>
          </a:p>
        </p:txBody>
      </p:sp>
    </p:spTree>
    <p:extLst>
      <p:ext uri="{BB962C8B-B14F-4D97-AF65-F5344CB8AC3E}">
        <p14:creationId xmlns:p14="http://schemas.microsoft.com/office/powerpoint/2010/main" val="2367946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M" dirty="0"/>
          </a:p>
        </p:txBody>
      </p:sp>
      <p:sp>
        <p:nvSpPr>
          <p:cNvPr id="4" name="Slide Number Placeholder 3"/>
          <p:cNvSpPr>
            <a:spLocks noGrp="1"/>
          </p:cNvSpPr>
          <p:nvPr>
            <p:ph type="sldNum" sz="quarter" idx="5"/>
          </p:nvPr>
        </p:nvSpPr>
        <p:spPr/>
        <p:txBody>
          <a:bodyPr/>
          <a:lstStyle/>
          <a:p>
            <a:fld id="{448A2AE3-D904-49D7-8142-4C7B252B6588}" type="slidenum">
              <a:rPr lang="en-JM" smtClean="0"/>
              <a:t>6</a:t>
            </a:fld>
            <a:endParaRPr lang="en-JM"/>
          </a:p>
        </p:txBody>
      </p:sp>
    </p:spTree>
    <p:extLst>
      <p:ext uri="{BB962C8B-B14F-4D97-AF65-F5344CB8AC3E}">
        <p14:creationId xmlns:p14="http://schemas.microsoft.com/office/powerpoint/2010/main" val="2313233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M" dirty="0"/>
              <a:t>A-POTH-E-CURY…  A person who prepares and sells drugs or compounds for medical purposes.</a:t>
            </a:r>
          </a:p>
        </p:txBody>
      </p:sp>
      <p:sp>
        <p:nvSpPr>
          <p:cNvPr id="4" name="Slide Number Placeholder 3"/>
          <p:cNvSpPr>
            <a:spLocks noGrp="1"/>
          </p:cNvSpPr>
          <p:nvPr>
            <p:ph type="sldNum" sz="quarter" idx="5"/>
          </p:nvPr>
        </p:nvSpPr>
        <p:spPr/>
        <p:txBody>
          <a:bodyPr/>
          <a:lstStyle/>
          <a:p>
            <a:fld id="{448A2AE3-D904-49D7-8142-4C7B252B6588}" type="slidenum">
              <a:rPr lang="en-JM" smtClean="0"/>
              <a:t>11</a:t>
            </a:fld>
            <a:endParaRPr lang="en-JM"/>
          </a:p>
        </p:txBody>
      </p:sp>
    </p:spTree>
    <p:extLst>
      <p:ext uri="{BB962C8B-B14F-4D97-AF65-F5344CB8AC3E}">
        <p14:creationId xmlns:p14="http://schemas.microsoft.com/office/powerpoint/2010/main" val="60407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What a solemn and sacred service this must have been! To question or to mini­mize its value meant certain death. The sanctuary ministry was thus inaugurated, and the priests consecrated to this most sacred office, is clearly set forth.</a:t>
            </a:r>
            <a:br>
              <a:rPr lang="en-US" dirty="0"/>
            </a:br>
            <a:endParaRPr lang="en-JM" dirty="0"/>
          </a:p>
        </p:txBody>
      </p:sp>
      <p:sp>
        <p:nvSpPr>
          <p:cNvPr id="4" name="Slide Number Placeholder 3"/>
          <p:cNvSpPr>
            <a:spLocks noGrp="1"/>
          </p:cNvSpPr>
          <p:nvPr>
            <p:ph type="sldNum" sz="quarter" idx="5"/>
          </p:nvPr>
        </p:nvSpPr>
        <p:spPr/>
        <p:txBody>
          <a:bodyPr/>
          <a:lstStyle/>
          <a:p>
            <a:fld id="{448A2AE3-D904-49D7-8142-4C7B252B6588}" type="slidenum">
              <a:rPr lang="en-JM" smtClean="0"/>
              <a:t>19</a:t>
            </a:fld>
            <a:endParaRPr lang="en-JM"/>
          </a:p>
        </p:txBody>
      </p:sp>
    </p:spTree>
    <p:extLst>
      <p:ext uri="{BB962C8B-B14F-4D97-AF65-F5344CB8AC3E}">
        <p14:creationId xmlns:p14="http://schemas.microsoft.com/office/powerpoint/2010/main" val="3332406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word Messiah means “anointed” (Acts 4:25, 26,  compared with PS. 2:1,2, and John 1:41). Yet we do not find in scripture the word “Most Holy” applied to the Messiah. </a:t>
            </a:r>
            <a:endParaRPr lang="en-JM" dirty="0"/>
          </a:p>
        </p:txBody>
      </p:sp>
      <p:sp>
        <p:nvSpPr>
          <p:cNvPr id="4" name="Slide Number Placeholder 3"/>
          <p:cNvSpPr>
            <a:spLocks noGrp="1"/>
          </p:cNvSpPr>
          <p:nvPr>
            <p:ph type="sldNum" sz="quarter" idx="5"/>
          </p:nvPr>
        </p:nvSpPr>
        <p:spPr/>
        <p:txBody>
          <a:bodyPr/>
          <a:lstStyle/>
          <a:p>
            <a:fld id="{448A2AE3-D904-49D7-8142-4C7B252B6588}" type="slidenum">
              <a:rPr lang="en-JM" smtClean="0"/>
              <a:t>23</a:t>
            </a:fld>
            <a:endParaRPr lang="en-JM"/>
          </a:p>
        </p:txBody>
      </p:sp>
    </p:spTree>
    <p:extLst>
      <p:ext uri="{BB962C8B-B14F-4D97-AF65-F5344CB8AC3E}">
        <p14:creationId xmlns:p14="http://schemas.microsoft.com/office/powerpoint/2010/main" val="4094514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HEBREW: </a:t>
            </a:r>
            <a:r>
              <a:rPr lang="en-GB" sz="1400" dirty="0"/>
              <a:t>Right to left.  we-</a:t>
            </a:r>
            <a:r>
              <a:rPr lang="en-GB" sz="1400" dirty="0" err="1"/>
              <a:t>lim</a:t>
            </a:r>
            <a:r>
              <a:rPr lang="en-GB" sz="1400" dirty="0"/>
              <a:t>- </a:t>
            </a:r>
            <a:r>
              <a:rPr lang="en-GB" sz="1400" dirty="0" err="1"/>
              <a:t>sho</a:t>
            </a:r>
            <a:r>
              <a:rPr lang="en-GB" sz="1400" dirty="0"/>
              <a:t>-ah (</a:t>
            </a:r>
            <a:r>
              <a:rPr lang="he-IL" sz="1400" dirty="0"/>
              <a:t>וְלִמְשֹׁ֖ח</a:t>
            </a:r>
            <a:r>
              <a:rPr lang="en-GB" sz="1400" dirty="0"/>
              <a:t>  </a:t>
            </a:r>
            <a:r>
              <a:rPr lang="en-GB" sz="1400" b="1" dirty="0"/>
              <a:t>to anoint</a:t>
            </a:r>
            <a:r>
              <a:rPr lang="en-GB" sz="1400" dirty="0"/>
              <a:t>)  </a:t>
            </a:r>
            <a:r>
              <a:rPr lang="en-GB" sz="1400" b="1" dirty="0"/>
              <a:t>a: </a:t>
            </a:r>
            <a:r>
              <a:rPr lang="en-GB" sz="1400" b="0" dirty="0"/>
              <a:t>because we don’t have a definite article after  “to anoint,” </a:t>
            </a:r>
            <a:r>
              <a:rPr lang="en-GB" sz="1400" dirty="0"/>
              <a:t>Ko-</a:t>
            </a:r>
            <a:r>
              <a:rPr lang="en-GB" sz="1400" dirty="0" err="1"/>
              <a:t>desh</a:t>
            </a:r>
            <a:r>
              <a:rPr lang="en-GB" sz="1400" dirty="0"/>
              <a:t> (</a:t>
            </a:r>
            <a:r>
              <a:rPr lang="he-IL" sz="1400" dirty="0"/>
              <a:t>֥דֶשׁ </a:t>
            </a:r>
            <a:r>
              <a:rPr lang="en-GB" sz="1400" dirty="0"/>
              <a:t>  </a:t>
            </a:r>
            <a:r>
              <a:rPr lang="en-GB" sz="1400" b="1" dirty="0"/>
              <a:t>Holy</a:t>
            </a:r>
            <a:r>
              <a:rPr lang="en-GB" sz="1400" dirty="0"/>
              <a:t>)  Ko-do-shim  (</a:t>
            </a:r>
            <a:r>
              <a:rPr lang="he-IL" sz="1400" dirty="0"/>
              <a:t>קָֽדָשִֽׁים׃ </a:t>
            </a:r>
            <a:r>
              <a:rPr lang="en-GB" sz="1400" dirty="0"/>
              <a:t>  </a:t>
            </a:r>
            <a:r>
              <a:rPr lang="en-GB" sz="1400" b="1" dirty="0"/>
              <a:t>of Holies</a:t>
            </a:r>
            <a:r>
              <a:rPr lang="en-GB" sz="1400" dirty="0"/>
              <a:t>) or “to anoint a Most Holy.”</a:t>
            </a:r>
            <a:endParaRPr lang="en-JM" sz="1400" dirty="0"/>
          </a:p>
        </p:txBody>
      </p:sp>
      <p:sp>
        <p:nvSpPr>
          <p:cNvPr id="4" name="Slide Number Placeholder 3"/>
          <p:cNvSpPr>
            <a:spLocks noGrp="1"/>
          </p:cNvSpPr>
          <p:nvPr>
            <p:ph type="sldNum" sz="quarter" idx="5"/>
          </p:nvPr>
        </p:nvSpPr>
        <p:spPr/>
        <p:txBody>
          <a:bodyPr/>
          <a:lstStyle/>
          <a:p>
            <a:fld id="{448A2AE3-D904-49D7-8142-4C7B252B6588}" type="slidenum">
              <a:rPr lang="en-JM" smtClean="0"/>
              <a:t>24</a:t>
            </a:fld>
            <a:endParaRPr lang="en-JM"/>
          </a:p>
        </p:txBody>
      </p:sp>
    </p:spTree>
    <p:extLst>
      <p:ext uri="{BB962C8B-B14F-4D97-AF65-F5344CB8AC3E}">
        <p14:creationId xmlns:p14="http://schemas.microsoft.com/office/powerpoint/2010/main" val="2700882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M" dirty="0"/>
          </a:p>
        </p:txBody>
      </p:sp>
      <p:sp>
        <p:nvSpPr>
          <p:cNvPr id="4" name="Slide Number Placeholder 3"/>
          <p:cNvSpPr>
            <a:spLocks noGrp="1"/>
          </p:cNvSpPr>
          <p:nvPr>
            <p:ph type="sldNum" sz="quarter" idx="5"/>
          </p:nvPr>
        </p:nvSpPr>
        <p:spPr/>
        <p:txBody>
          <a:bodyPr/>
          <a:lstStyle/>
          <a:p>
            <a:fld id="{448A2AE3-D904-49D7-8142-4C7B252B6588}" type="slidenum">
              <a:rPr lang="en-JM" smtClean="0"/>
              <a:t>34</a:t>
            </a:fld>
            <a:endParaRPr lang="en-JM"/>
          </a:p>
        </p:txBody>
      </p:sp>
    </p:spTree>
    <p:extLst>
      <p:ext uri="{BB962C8B-B14F-4D97-AF65-F5344CB8AC3E}">
        <p14:creationId xmlns:p14="http://schemas.microsoft.com/office/powerpoint/2010/main" val="587742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dirty="0"/>
              <a:t>τὰ ἅγια, </a:t>
            </a:r>
            <a:r>
              <a:rPr lang="en-US" dirty="0"/>
              <a:t> Plural, Correct translation, Holy Places (Holy and the Most Holy) or Sanctuary (including the Apartments, Holy and Most Holy)</a:t>
            </a:r>
            <a:endParaRPr lang="en-JM" dirty="0"/>
          </a:p>
        </p:txBody>
      </p:sp>
      <p:sp>
        <p:nvSpPr>
          <p:cNvPr id="4" name="Slide Number Placeholder 3"/>
          <p:cNvSpPr>
            <a:spLocks noGrp="1"/>
          </p:cNvSpPr>
          <p:nvPr>
            <p:ph type="sldNum" sz="quarter" idx="5"/>
          </p:nvPr>
        </p:nvSpPr>
        <p:spPr/>
        <p:txBody>
          <a:bodyPr/>
          <a:lstStyle/>
          <a:p>
            <a:fld id="{448A2AE3-D904-49D7-8142-4C7B252B6588}" type="slidenum">
              <a:rPr lang="en-JM" smtClean="0"/>
              <a:t>35</a:t>
            </a:fld>
            <a:endParaRPr lang="en-JM"/>
          </a:p>
        </p:txBody>
      </p:sp>
    </p:spTree>
    <p:extLst>
      <p:ext uri="{BB962C8B-B14F-4D97-AF65-F5344CB8AC3E}">
        <p14:creationId xmlns:p14="http://schemas.microsoft.com/office/powerpoint/2010/main" val="634216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Jesus is anointed after His sacrifice.   Jesus is not under the Aaronic priesthood;  He is after a different kind (Melchizedek). </a:t>
            </a:r>
            <a:endParaRPr lang="en-JM" dirty="0"/>
          </a:p>
        </p:txBody>
      </p:sp>
      <p:sp>
        <p:nvSpPr>
          <p:cNvPr id="4" name="Slide Number Placeholder 3"/>
          <p:cNvSpPr>
            <a:spLocks noGrp="1"/>
          </p:cNvSpPr>
          <p:nvPr>
            <p:ph type="sldNum" sz="quarter" idx="5"/>
          </p:nvPr>
        </p:nvSpPr>
        <p:spPr/>
        <p:txBody>
          <a:bodyPr/>
          <a:lstStyle/>
          <a:p>
            <a:fld id="{448A2AE3-D904-49D7-8142-4C7B252B6588}" type="slidenum">
              <a:rPr lang="en-JM" smtClean="0"/>
              <a:t>37</a:t>
            </a:fld>
            <a:endParaRPr lang="en-JM"/>
          </a:p>
        </p:txBody>
      </p:sp>
    </p:spTree>
    <p:extLst>
      <p:ext uri="{BB962C8B-B14F-4D97-AF65-F5344CB8AC3E}">
        <p14:creationId xmlns:p14="http://schemas.microsoft.com/office/powerpoint/2010/main" val="3318801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M" dirty="0"/>
          </a:p>
        </p:txBody>
      </p:sp>
      <p:sp>
        <p:nvSpPr>
          <p:cNvPr id="4" name="Slide Number Placeholder 3"/>
          <p:cNvSpPr>
            <a:spLocks noGrp="1"/>
          </p:cNvSpPr>
          <p:nvPr>
            <p:ph type="sldNum" sz="quarter" idx="5"/>
          </p:nvPr>
        </p:nvSpPr>
        <p:spPr/>
        <p:txBody>
          <a:bodyPr/>
          <a:lstStyle/>
          <a:p>
            <a:fld id="{448A2AE3-D904-49D7-8142-4C7B252B6588}" type="slidenum">
              <a:rPr lang="en-JM" smtClean="0"/>
              <a:t>38</a:t>
            </a:fld>
            <a:endParaRPr lang="en-JM"/>
          </a:p>
        </p:txBody>
      </p:sp>
    </p:spTree>
    <p:extLst>
      <p:ext uri="{BB962C8B-B14F-4D97-AF65-F5344CB8AC3E}">
        <p14:creationId xmlns:p14="http://schemas.microsoft.com/office/powerpoint/2010/main" val="2993070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C7ABA-B416-4D96-B5A0-618DF2CC15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M"/>
          </a:p>
        </p:txBody>
      </p:sp>
      <p:sp>
        <p:nvSpPr>
          <p:cNvPr id="3" name="Subtitle 2">
            <a:extLst>
              <a:ext uri="{FF2B5EF4-FFF2-40B4-BE49-F238E27FC236}">
                <a16:creationId xmlns:a16="http://schemas.microsoft.com/office/drawing/2014/main" id="{5ED9359C-AC63-46DA-A99F-7EE0CE253F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M"/>
          </a:p>
        </p:txBody>
      </p:sp>
      <p:sp>
        <p:nvSpPr>
          <p:cNvPr id="4" name="Date Placeholder 3">
            <a:extLst>
              <a:ext uri="{FF2B5EF4-FFF2-40B4-BE49-F238E27FC236}">
                <a16:creationId xmlns:a16="http://schemas.microsoft.com/office/drawing/2014/main" id="{3351EF99-EA4F-4DA6-89DA-8FD3CB4DFA25}"/>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5" name="Footer Placeholder 4">
            <a:extLst>
              <a:ext uri="{FF2B5EF4-FFF2-40B4-BE49-F238E27FC236}">
                <a16:creationId xmlns:a16="http://schemas.microsoft.com/office/drawing/2014/main" id="{9170127A-F1D4-4FDE-BB7A-8F89065D766A}"/>
              </a:ext>
            </a:extLst>
          </p:cNvPr>
          <p:cNvSpPr>
            <a:spLocks noGrp="1"/>
          </p:cNvSpPr>
          <p:nvPr>
            <p:ph type="ftr" sz="quarter" idx="11"/>
          </p:nvPr>
        </p:nvSpPr>
        <p:spPr/>
        <p:txBody>
          <a:bodyPr/>
          <a:lstStyle/>
          <a:p>
            <a:endParaRPr lang="en-JM"/>
          </a:p>
        </p:txBody>
      </p:sp>
      <p:sp>
        <p:nvSpPr>
          <p:cNvPr id="6" name="Slide Number Placeholder 5">
            <a:extLst>
              <a:ext uri="{FF2B5EF4-FFF2-40B4-BE49-F238E27FC236}">
                <a16:creationId xmlns:a16="http://schemas.microsoft.com/office/drawing/2014/main" id="{04510667-568C-47DB-98C7-E546E8FEE612}"/>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3156472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3AA6-AFB9-4B3E-9928-C3FAC1D828B9}"/>
              </a:ext>
            </a:extLst>
          </p:cNvPr>
          <p:cNvSpPr>
            <a:spLocks noGrp="1"/>
          </p:cNvSpPr>
          <p:nvPr>
            <p:ph type="title"/>
          </p:nvPr>
        </p:nvSpPr>
        <p:spPr/>
        <p:txBody>
          <a:bodyPr/>
          <a:lstStyle/>
          <a:p>
            <a:r>
              <a:rPr lang="en-US"/>
              <a:t>Click to edit Master title style</a:t>
            </a:r>
            <a:endParaRPr lang="en-JM"/>
          </a:p>
        </p:txBody>
      </p:sp>
      <p:sp>
        <p:nvSpPr>
          <p:cNvPr id="3" name="Content Placeholder 2">
            <a:extLst>
              <a:ext uri="{FF2B5EF4-FFF2-40B4-BE49-F238E27FC236}">
                <a16:creationId xmlns:a16="http://schemas.microsoft.com/office/drawing/2014/main" id="{A2D86C0A-2AA3-45F9-9F83-124A3B95818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4" name="Date Placeholder 3">
            <a:extLst>
              <a:ext uri="{FF2B5EF4-FFF2-40B4-BE49-F238E27FC236}">
                <a16:creationId xmlns:a16="http://schemas.microsoft.com/office/drawing/2014/main" id="{6F84A939-9ED1-42B5-948C-E6C9C7758E5E}"/>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5" name="Footer Placeholder 4">
            <a:extLst>
              <a:ext uri="{FF2B5EF4-FFF2-40B4-BE49-F238E27FC236}">
                <a16:creationId xmlns:a16="http://schemas.microsoft.com/office/drawing/2014/main" id="{6F12AFD2-DBBB-4C0E-9ACB-A4BFA4479826}"/>
              </a:ext>
            </a:extLst>
          </p:cNvPr>
          <p:cNvSpPr>
            <a:spLocks noGrp="1"/>
          </p:cNvSpPr>
          <p:nvPr>
            <p:ph type="ftr" sz="quarter" idx="11"/>
          </p:nvPr>
        </p:nvSpPr>
        <p:spPr/>
        <p:txBody>
          <a:bodyPr/>
          <a:lstStyle/>
          <a:p>
            <a:endParaRPr lang="en-JM"/>
          </a:p>
        </p:txBody>
      </p:sp>
      <p:sp>
        <p:nvSpPr>
          <p:cNvPr id="6" name="Slide Number Placeholder 5">
            <a:extLst>
              <a:ext uri="{FF2B5EF4-FFF2-40B4-BE49-F238E27FC236}">
                <a16:creationId xmlns:a16="http://schemas.microsoft.com/office/drawing/2014/main" id="{237654EF-D8F2-4997-BC9C-B2BA767A058A}"/>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3372880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6D052-5EC5-42E3-BD22-167AC0896B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M"/>
          </a:p>
        </p:txBody>
      </p:sp>
      <p:sp>
        <p:nvSpPr>
          <p:cNvPr id="3" name="Text Placeholder 2">
            <a:extLst>
              <a:ext uri="{FF2B5EF4-FFF2-40B4-BE49-F238E27FC236}">
                <a16:creationId xmlns:a16="http://schemas.microsoft.com/office/drawing/2014/main" id="{8E74CBA4-8AED-4EF1-BAB4-6243DE0691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CC6DE44-DF07-4F43-A77F-752ECE263CE4}"/>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5" name="Footer Placeholder 4">
            <a:extLst>
              <a:ext uri="{FF2B5EF4-FFF2-40B4-BE49-F238E27FC236}">
                <a16:creationId xmlns:a16="http://schemas.microsoft.com/office/drawing/2014/main" id="{256C9123-0277-420A-85AB-B8D6EABF7573}"/>
              </a:ext>
            </a:extLst>
          </p:cNvPr>
          <p:cNvSpPr>
            <a:spLocks noGrp="1"/>
          </p:cNvSpPr>
          <p:nvPr>
            <p:ph type="ftr" sz="quarter" idx="11"/>
          </p:nvPr>
        </p:nvSpPr>
        <p:spPr/>
        <p:txBody>
          <a:bodyPr/>
          <a:lstStyle/>
          <a:p>
            <a:endParaRPr lang="en-JM"/>
          </a:p>
        </p:txBody>
      </p:sp>
      <p:sp>
        <p:nvSpPr>
          <p:cNvPr id="6" name="Slide Number Placeholder 5">
            <a:extLst>
              <a:ext uri="{FF2B5EF4-FFF2-40B4-BE49-F238E27FC236}">
                <a16:creationId xmlns:a16="http://schemas.microsoft.com/office/drawing/2014/main" id="{F76D4A30-09BC-4CA8-BD3C-651F935BC241}"/>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2451365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83331-E5B6-4226-8EC2-9E0D5A99B6E8}"/>
              </a:ext>
            </a:extLst>
          </p:cNvPr>
          <p:cNvSpPr>
            <a:spLocks noGrp="1"/>
          </p:cNvSpPr>
          <p:nvPr>
            <p:ph type="title"/>
          </p:nvPr>
        </p:nvSpPr>
        <p:spPr/>
        <p:txBody>
          <a:bodyPr/>
          <a:lstStyle/>
          <a:p>
            <a:r>
              <a:rPr lang="en-US"/>
              <a:t>Click to edit Master title style</a:t>
            </a:r>
            <a:endParaRPr lang="en-JM"/>
          </a:p>
        </p:txBody>
      </p:sp>
      <p:sp>
        <p:nvSpPr>
          <p:cNvPr id="3" name="Content Placeholder 2">
            <a:extLst>
              <a:ext uri="{FF2B5EF4-FFF2-40B4-BE49-F238E27FC236}">
                <a16:creationId xmlns:a16="http://schemas.microsoft.com/office/drawing/2014/main" id="{9DAB1BF7-17C3-4079-BDFF-DC4DAAC832D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4" name="Content Placeholder 3">
            <a:extLst>
              <a:ext uri="{FF2B5EF4-FFF2-40B4-BE49-F238E27FC236}">
                <a16:creationId xmlns:a16="http://schemas.microsoft.com/office/drawing/2014/main" id="{922CB6A6-8117-4DC4-8265-6C27E3D7817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5" name="Date Placeholder 4">
            <a:extLst>
              <a:ext uri="{FF2B5EF4-FFF2-40B4-BE49-F238E27FC236}">
                <a16:creationId xmlns:a16="http://schemas.microsoft.com/office/drawing/2014/main" id="{6E272BFC-738B-4E23-83B8-9A84AF82B5CD}"/>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6" name="Footer Placeholder 5">
            <a:extLst>
              <a:ext uri="{FF2B5EF4-FFF2-40B4-BE49-F238E27FC236}">
                <a16:creationId xmlns:a16="http://schemas.microsoft.com/office/drawing/2014/main" id="{C6FD94D5-0A97-4B07-9111-53DCACC23BD7}"/>
              </a:ext>
            </a:extLst>
          </p:cNvPr>
          <p:cNvSpPr>
            <a:spLocks noGrp="1"/>
          </p:cNvSpPr>
          <p:nvPr>
            <p:ph type="ftr" sz="quarter" idx="11"/>
          </p:nvPr>
        </p:nvSpPr>
        <p:spPr/>
        <p:txBody>
          <a:bodyPr/>
          <a:lstStyle/>
          <a:p>
            <a:endParaRPr lang="en-JM"/>
          </a:p>
        </p:txBody>
      </p:sp>
      <p:sp>
        <p:nvSpPr>
          <p:cNvPr id="7" name="Slide Number Placeholder 6">
            <a:extLst>
              <a:ext uri="{FF2B5EF4-FFF2-40B4-BE49-F238E27FC236}">
                <a16:creationId xmlns:a16="http://schemas.microsoft.com/office/drawing/2014/main" id="{91FDB292-7BAC-4D8D-A221-869C4F6D122D}"/>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271684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D6474-78A6-420A-B1A2-EFEE21DD8982}"/>
              </a:ext>
            </a:extLst>
          </p:cNvPr>
          <p:cNvSpPr>
            <a:spLocks noGrp="1"/>
          </p:cNvSpPr>
          <p:nvPr>
            <p:ph type="title"/>
          </p:nvPr>
        </p:nvSpPr>
        <p:spPr>
          <a:xfrm>
            <a:off x="839788" y="365125"/>
            <a:ext cx="10515600" cy="1325563"/>
          </a:xfrm>
        </p:spPr>
        <p:txBody>
          <a:bodyPr/>
          <a:lstStyle/>
          <a:p>
            <a:r>
              <a:rPr lang="en-US"/>
              <a:t>Click to edit Master title style</a:t>
            </a:r>
            <a:endParaRPr lang="en-JM"/>
          </a:p>
        </p:txBody>
      </p:sp>
      <p:sp>
        <p:nvSpPr>
          <p:cNvPr id="3" name="Text Placeholder 2">
            <a:extLst>
              <a:ext uri="{FF2B5EF4-FFF2-40B4-BE49-F238E27FC236}">
                <a16:creationId xmlns:a16="http://schemas.microsoft.com/office/drawing/2014/main" id="{7F2547C3-AE78-412C-8502-E6F966CE91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894F47B-8589-4C3F-8017-36196A92809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5" name="Text Placeholder 4">
            <a:extLst>
              <a:ext uri="{FF2B5EF4-FFF2-40B4-BE49-F238E27FC236}">
                <a16:creationId xmlns:a16="http://schemas.microsoft.com/office/drawing/2014/main" id="{F729BA30-5B6E-49BB-A23D-948AA6D6EC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D656605-D0C7-4690-8D59-BC68C005375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7" name="Date Placeholder 6">
            <a:extLst>
              <a:ext uri="{FF2B5EF4-FFF2-40B4-BE49-F238E27FC236}">
                <a16:creationId xmlns:a16="http://schemas.microsoft.com/office/drawing/2014/main" id="{A61E529B-B50E-438A-8557-0A685808AE64}"/>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8" name="Footer Placeholder 7">
            <a:extLst>
              <a:ext uri="{FF2B5EF4-FFF2-40B4-BE49-F238E27FC236}">
                <a16:creationId xmlns:a16="http://schemas.microsoft.com/office/drawing/2014/main" id="{F463D7A4-C045-4BE9-86BB-53B6E7C91BB2}"/>
              </a:ext>
            </a:extLst>
          </p:cNvPr>
          <p:cNvSpPr>
            <a:spLocks noGrp="1"/>
          </p:cNvSpPr>
          <p:nvPr>
            <p:ph type="ftr" sz="quarter" idx="11"/>
          </p:nvPr>
        </p:nvSpPr>
        <p:spPr/>
        <p:txBody>
          <a:bodyPr/>
          <a:lstStyle/>
          <a:p>
            <a:endParaRPr lang="en-JM"/>
          </a:p>
        </p:txBody>
      </p:sp>
      <p:sp>
        <p:nvSpPr>
          <p:cNvPr id="9" name="Slide Number Placeholder 8">
            <a:extLst>
              <a:ext uri="{FF2B5EF4-FFF2-40B4-BE49-F238E27FC236}">
                <a16:creationId xmlns:a16="http://schemas.microsoft.com/office/drawing/2014/main" id="{A5207324-1E13-49F2-8C3E-89E8FDDBA769}"/>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3625777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A18C-474D-4B09-AEF4-73849BC3E991}"/>
              </a:ext>
            </a:extLst>
          </p:cNvPr>
          <p:cNvSpPr>
            <a:spLocks noGrp="1"/>
          </p:cNvSpPr>
          <p:nvPr>
            <p:ph type="title"/>
          </p:nvPr>
        </p:nvSpPr>
        <p:spPr/>
        <p:txBody>
          <a:bodyPr/>
          <a:lstStyle/>
          <a:p>
            <a:r>
              <a:rPr lang="en-US"/>
              <a:t>Click to edit Master title style</a:t>
            </a:r>
            <a:endParaRPr lang="en-JM"/>
          </a:p>
        </p:txBody>
      </p:sp>
      <p:sp>
        <p:nvSpPr>
          <p:cNvPr id="3" name="Date Placeholder 2">
            <a:extLst>
              <a:ext uri="{FF2B5EF4-FFF2-40B4-BE49-F238E27FC236}">
                <a16:creationId xmlns:a16="http://schemas.microsoft.com/office/drawing/2014/main" id="{285B9DDC-DF6C-4699-A76F-EB49BB0ECC85}"/>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4" name="Footer Placeholder 3">
            <a:extLst>
              <a:ext uri="{FF2B5EF4-FFF2-40B4-BE49-F238E27FC236}">
                <a16:creationId xmlns:a16="http://schemas.microsoft.com/office/drawing/2014/main" id="{2F89D193-A8F3-47CD-80D8-581880C7161D}"/>
              </a:ext>
            </a:extLst>
          </p:cNvPr>
          <p:cNvSpPr>
            <a:spLocks noGrp="1"/>
          </p:cNvSpPr>
          <p:nvPr>
            <p:ph type="ftr" sz="quarter" idx="11"/>
          </p:nvPr>
        </p:nvSpPr>
        <p:spPr/>
        <p:txBody>
          <a:bodyPr/>
          <a:lstStyle/>
          <a:p>
            <a:endParaRPr lang="en-JM"/>
          </a:p>
        </p:txBody>
      </p:sp>
      <p:sp>
        <p:nvSpPr>
          <p:cNvPr id="5" name="Slide Number Placeholder 4">
            <a:extLst>
              <a:ext uri="{FF2B5EF4-FFF2-40B4-BE49-F238E27FC236}">
                <a16:creationId xmlns:a16="http://schemas.microsoft.com/office/drawing/2014/main" id="{46556210-ED0E-4175-AF00-E30DD3174173}"/>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4218157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BB56D3-CC24-4CF7-9D0B-C4E4BF84C647}"/>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3" name="Footer Placeholder 2">
            <a:extLst>
              <a:ext uri="{FF2B5EF4-FFF2-40B4-BE49-F238E27FC236}">
                <a16:creationId xmlns:a16="http://schemas.microsoft.com/office/drawing/2014/main" id="{033B0FE9-2E0E-4F26-B5A2-881950B182C1}"/>
              </a:ext>
            </a:extLst>
          </p:cNvPr>
          <p:cNvSpPr>
            <a:spLocks noGrp="1"/>
          </p:cNvSpPr>
          <p:nvPr>
            <p:ph type="ftr" sz="quarter" idx="11"/>
          </p:nvPr>
        </p:nvSpPr>
        <p:spPr/>
        <p:txBody>
          <a:bodyPr/>
          <a:lstStyle/>
          <a:p>
            <a:endParaRPr lang="en-JM"/>
          </a:p>
        </p:txBody>
      </p:sp>
      <p:sp>
        <p:nvSpPr>
          <p:cNvPr id="4" name="Slide Number Placeholder 3">
            <a:extLst>
              <a:ext uri="{FF2B5EF4-FFF2-40B4-BE49-F238E27FC236}">
                <a16:creationId xmlns:a16="http://schemas.microsoft.com/office/drawing/2014/main" id="{58160C1B-2C50-457A-B4F7-364F7C548112}"/>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2605754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3981-8691-4252-AC7E-8DB5A58588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2FDCFA12-107C-41CC-827B-D9817726AB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4" name="Text Placeholder 3">
            <a:extLst>
              <a:ext uri="{FF2B5EF4-FFF2-40B4-BE49-F238E27FC236}">
                <a16:creationId xmlns:a16="http://schemas.microsoft.com/office/drawing/2014/main" id="{707F19A8-A043-469B-8740-3A92A4743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C807212-7902-4BCE-97AB-86993C53E8DC}"/>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6" name="Footer Placeholder 5">
            <a:extLst>
              <a:ext uri="{FF2B5EF4-FFF2-40B4-BE49-F238E27FC236}">
                <a16:creationId xmlns:a16="http://schemas.microsoft.com/office/drawing/2014/main" id="{026365D0-5272-4A69-AAEB-B9DFD59D4D05}"/>
              </a:ext>
            </a:extLst>
          </p:cNvPr>
          <p:cNvSpPr>
            <a:spLocks noGrp="1"/>
          </p:cNvSpPr>
          <p:nvPr>
            <p:ph type="ftr" sz="quarter" idx="11"/>
          </p:nvPr>
        </p:nvSpPr>
        <p:spPr/>
        <p:txBody>
          <a:bodyPr/>
          <a:lstStyle/>
          <a:p>
            <a:endParaRPr lang="en-JM"/>
          </a:p>
        </p:txBody>
      </p:sp>
      <p:sp>
        <p:nvSpPr>
          <p:cNvPr id="7" name="Slide Number Placeholder 6">
            <a:extLst>
              <a:ext uri="{FF2B5EF4-FFF2-40B4-BE49-F238E27FC236}">
                <a16:creationId xmlns:a16="http://schemas.microsoft.com/office/drawing/2014/main" id="{1B10B456-2A50-4FB3-97B0-7838D523243D}"/>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3999585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C440D-AF64-4B84-8A9D-A9B8F88129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M"/>
          </a:p>
        </p:txBody>
      </p:sp>
      <p:sp>
        <p:nvSpPr>
          <p:cNvPr id="3" name="Picture Placeholder 2">
            <a:extLst>
              <a:ext uri="{FF2B5EF4-FFF2-40B4-BE49-F238E27FC236}">
                <a16:creationId xmlns:a16="http://schemas.microsoft.com/office/drawing/2014/main" id="{E3C689BE-01E8-4539-902D-557FB04DF1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M"/>
          </a:p>
        </p:txBody>
      </p:sp>
      <p:sp>
        <p:nvSpPr>
          <p:cNvPr id="4" name="Text Placeholder 3">
            <a:extLst>
              <a:ext uri="{FF2B5EF4-FFF2-40B4-BE49-F238E27FC236}">
                <a16:creationId xmlns:a16="http://schemas.microsoft.com/office/drawing/2014/main" id="{627F91BD-7A4A-487C-9F4F-79224E28FA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DFFAC1F-2EA9-4DEC-8540-33B831B3255E}"/>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6" name="Footer Placeholder 5">
            <a:extLst>
              <a:ext uri="{FF2B5EF4-FFF2-40B4-BE49-F238E27FC236}">
                <a16:creationId xmlns:a16="http://schemas.microsoft.com/office/drawing/2014/main" id="{CA39CE26-F16E-492C-958A-899C83BDCF40}"/>
              </a:ext>
            </a:extLst>
          </p:cNvPr>
          <p:cNvSpPr>
            <a:spLocks noGrp="1"/>
          </p:cNvSpPr>
          <p:nvPr>
            <p:ph type="ftr" sz="quarter" idx="11"/>
          </p:nvPr>
        </p:nvSpPr>
        <p:spPr/>
        <p:txBody>
          <a:bodyPr/>
          <a:lstStyle/>
          <a:p>
            <a:endParaRPr lang="en-JM"/>
          </a:p>
        </p:txBody>
      </p:sp>
      <p:sp>
        <p:nvSpPr>
          <p:cNvPr id="7" name="Slide Number Placeholder 6">
            <a:extLst>
              <a:ext uri="{FF2B5EF4-FFF2-40B4-BE49-F238E27FC236}">
                <a16:creationId xmlns:a16="http://schemas.microsoft.com/office/drawing/2014/main" id="{74E28CBB-89C0-41B4-ABEC-8722E30049E1}"/>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3116080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E11E8-99C7-455E-959B-503D8DDA280C}"/>
              </a:ext>
            </a:extLst>
          </p:cNvPr>
          <p:cNvSpPr>
            <a:spLocks noGrp="1"/>
          </p:cNvSpPr>
          <p:nvPr>
            <p:ph type="title"/>
          </p:nvPr>
        </p:nvSpPr>
        <p:spPr/>
        <p:txBody>
          <a:bodyPr/>
          <a:lstStyle/>
          <a:p>
            <a:r>
              <a:rPr lang="en-US"/>
              <a:t>Click to edit Master title style</a:t>
            </a:r>
            <a:endParaRPr lang="en-JM"/>
          </a:p>
        </p:txBody>
      </p:sp>
      <p:sp>
        <p:nvSpPr>
          <p:cNvPr id="3" name="Vertical Text Placeholder 2">
            <a:extLst>
              <a:ext uri="{FF2B5EF4-FFF2-40B4-BE49-F238E27FC236}">
                <a16:creationId xmlns:a16="http://schemas.microsoft.com/office/drawing/2014/main" id="{2DDAF1B3-EC83-41DF-9D3D-A3A6C4D8DFE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4" name="Date Placeholder 3">
            <a:extLst>
              <a:ext uri="{FF2B5EF4-FFF2-40B4-BE49-F238E27FC236}">
                <a16:creationId xmlns:a16="http://schemas.microsoft.com/office/drawing/2014/main" id="{2D152B29-AAF8-4178-9306-F4A90A121B38}"/>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5" name="Footer Placeholder 4">
            <a:extLst>
              <a:ext uri="{FF2B5EF4-FFF2-40B4-BE49-F238E27FC236}">
                <a16:creationId xmlns:a16="http://schemas.microsoft.com/office/drawing/2014/main" id="{28A9BC77-5759-4873-9AA4-1E5A1F5DE18C}"/>
              </a:ext>
            </a:extLst>
          </p:cNvPr>
          <p:cNvSpPr>
            <a:spLocks noGrp="1"/>
          </p:cNvSpPr>
          <p:nvPr>
            <p:ph type="ftr" sz="quarter" idx="11"/>
          </p:nvPr>
        </p:nvSpPr>
        <p:spPr/>
        <p:txBody>
          <a:bodyPr/>
          <a:lstStyle/>
          <a:p>
            <a:endParaRPr lang="en-JM"/>
          </a:p>
        </p:txBody>
      </p:sp>
      <p:sp>
        <p:nvSpPr>
          <p:cNvPr id="6" name="Slide Number Placeholder 5">
            <a:extLst>
              <a:ext uri="{FF2B5EF4-FFF2-40B4-BE49-F238E27FC236}">
                <a16:creationId xmlns:a16="http://schemas.microsoft.com/office/drawing/2014/main" id="{2544E30D-37B1-4CB8-A4FD-349ECD022AB1}"/>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904785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40A59C-5F77-499C-8B62-27FBD076B3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M"/>
          </a:p>
        </p:txBody>
      </p:sp>
      <p:sp>
        <p:nvSpPr>
          <p:cNvPr id="3" name="Vertical Text Placeholder 2">
            <a:extLst>
              <a:ext uri="{FF2B5EF4-FFF2-40B4-BE49-F238E27FC236}">
                <a16:creationId xmlns:a16="http://schemas.microsoft.com/office/drawing/2014/main" id="{E204E223-2699-4F05-B12F-76D6C9DE6D8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4" name="Date Placeholder 3">
            <a:extLst>
              <a:ext uri="{FF2B5EF4-FFF2-40B4-BE49-F238E27FC236}">
                <a16:creationId xmlns:a16="http://schemas.microsoft.com/office/drawing/2014/main" id="{74420D56-B3AC-401F-A30F-8E56394535FD}"/>
              </a:ext>
            </a:extLst>
          </p:cNvPr>
          <p:cNvSpPr>
            <a:spLocks noGrp="1"/>
          </p:cNvSpPr>
          <p:nvPr>
            <p:ph type="dt" sz="half" idx="10"/>
          </p:nvPr>
        </p:nvSpPr>
        <p:spPr/>
        <p:txBody>
          <a:bodyPr/>
          <a:lstStyle/>
          <a:p>
            <a:fld id="{C435EE80-47C5-4E4C-AA22-00E2ABF9A4BA}" type="datetimeFigureOut">
              <a:rPr lang="en-JM" smtClean="0"/>
              <a:t>26/1/2026</a:t>
            </a:fld>
            <a:endParaRPr lang="en-JM"/>
          </a:p>
        </p:txBody>
      </p:sp>
      <p:sp>
        <p:nvSpPr>
          <p:cNvPr id="5" name="Footer Placeholder 4">
            <a:extLst>
              <a:ext uri="{FF2B5EF4-FFF2-40B4-BE49-F238E27FC236}">
                <a16:creationId xmlns:a16="http://schemas.microsoft.com/office/drawing/2014/main" id="{E0486AFC-C164-491B-84F6-78801A4A70DD}"/>
              </a:ext>
            </a:extLst>
          </p:cNvPr>
          <p:cNvSpPr>
            <a:spLocks noGrp="1"/>
          </p:cNvSpPr>
          <p:nvPr>
            <p:ph type="ftr" sz="quarter" idx="11"/>
          </p:nvPr>
        </p:nvSpPr>
        <p:spPr/>
        <p:txBody>
          <a:bodyPr/>
          <a:lstStyle/>
          <a:p>
            <a:endParaRPr lang="en-JM"/>
          </a:p>
        </p:txBody>
      </p:sp>
      <p:sp>
        <p:nvSpPr>
          <p:cNvPr id="6" name="Slide Number Placeholder 5">
            <a:extLst>
              <a:ext uri="{FF2B5EF4-FFF2-40B4-BE49-F238E27FC236}">
                <a16:creationId xmlns:a16="http://schemas.microsoft.com/office/drawing/2014/main" id="{10BB728D-C5C6-4528-84CF-A32F5DD0B855}"/>
              </a:ext>
            </a:extLst>
          </p:cNvPr>
          <p:cNvSpPr>
            <a:spLocks noGrp="1"/>
          </p:cNvSpPr>
          <p:nvPr>
            <p:ph type="sldNum" sz="quarter" idx="12"/>
          </p:nvPr>
        </p:nvSpPr>
        <p:spPr/>
        <p:txBody>
          <a:bodyPr/>
          <a:lstStyle/>
          <a:p>
            <a:fld id="{F6FCA6DE-5FCA-486E-A66E-0DBB9E5ACDAE}" type="slidenum">
              <a:rPr lang="en-JM" smtClean="0"/>
              <a:t>‹#›</a:t>
            </a:fld>
            <a:endParaRPr lang="en-JM"/>
          </a:p>
        </p:txBody>
      </p:sp>
    </p:spTree>
    <p:extLst>
      <p:ext uri="{BB962C8B-B14F-4D97-AF65-F5344CB8AC3E}">
        <p14:creationId xmlns:p14="http://schemas.microsoft.com/office/powerpoint/2010/main" val="2295071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0CC7D9-4186-496E-B51B-7F40E1F520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M"/>
          </a:p>
        </p:txBody>
      </p:sp>
      <p:sp>
        <p:nvSpPr>
          <p:cNvPr id="3" name="Text Placeholder 2">
            <a:extLst>
              <a:ext uri="{FF2B5EF4-FFF2-40B4-BE49-F238E27FC236}">
                <a16:creationId xmlns:a16="http://schemas.microsoft.com/office/drawing/2014/main" id="{54ECA225-E584-40E6-AB6A-78BD19A17E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4" name="Date Placeholder 3">
            <a:extLst>
              <a:ext uri="{FF2B5EF4-FFF2-40B4-BE49-F238E27FC236}">
                <a16:creationId xmlns:a16="http://schemas.microsoft.com/office/drawing/2014/main" id="{1550E169-335B-46FB-8941-9688C60DAA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35EE80-47C5-4E4C-AA22-00E2ABF9A4BA}" type="datetimeFigureOut">
              <a:rPr lang="en-JM" smtClean="0"/>
              <a:t>26/1/2026</a:t>
            </a:fld>
            <a:endParaRPr lang="en-JM"/>
          </a:p>
        </p:txBody>
      </p:sp>
      <p:sp>
        <p:nvSpPr>
          <p:cNvPr id="5" name="Footer Placeholder 4">
            <a:extLst>
              <a:ext uri="{FF2B5EF4-FFF2-40B4-BE49-F238E27FC236}">
                <a16:creationId xmlns:a16="http://schemas.microsoft.com/office/drawing/2014/main" id="{29F88AB3-AFEB-4986-9BE1-296AF5B4D4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M"/>
          </a:p>
        </p:txBody>
      </p:sp>
      <p:sp>
        <p:nvSpPr>
          <p:cNvPr id="6" name="Slide Number Placeholder 5">
            <a:extLst>
              <a:ext uri="{FF2B5EF4-FFF2-40B4-BE49-F238E27FC236}">
                <a16:creationId xmlns:a16="http://schemas.microsoft.com/office/drawing/2014/main" id="{5EF60952-9837-4AFF-A6E9-EF8F4517E5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FCA6DE-5FCA-486E-A66E-0DBB9E5ACDAE}" type="slidenum">
              <a:rPr lang="en-JM" smtClean="0"/>
              <a:t>‹#›</a:t>
            </a:fld>
            <a:endParaRPr lang="en-JM"/>
          </a:p>
        </p:txBody>
      </p:sp>
    </p:spTree>
    <p:extLst>
      <p:ext uri="{BB962C8B-B14F-4D97-AF65-F5344CB8AC3E}">
        <p14:creationId xmlns:p14="http://schemas.microsoft.com/office/powerpoint/2010/main" val="548126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biblia.com/bible/niv/Ex.%2030.30-32" TargetMode="External"/><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biblia.com/bible/niv/Lev.%208.2-5" TargetMode="External"/><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biblia.com/bible/niv/Ex.%2040.%2013-15" TargetMode="External"/><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hyperlink" Target="http://biblia.com/bible/niv/Lev.%208.33"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biblia.com/bible/niv/Lev.%209.1" TargetMode="External"/><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hyperlink" Target="http://biblia.com/bible/niv/Lev%209.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hyperlink" Target="http://biblia.com/bible/niv/Ex%2026.34" TargetMode="External"/><Relationship Id="rId5" Type="http://schemas.openxmlformats.org/officeDocument/2006/relationships/hyperlink" Target="http://biblia.com/bible/niv/Ex.%2026.33" TargetMode="External"/><Relationship Id="rId4" Type="http://schemas.openxmlformats.org/officeDocument/2006/relationships/hyperlink" Target="http://biblia.com/bible/niv/Dan.%209.24"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9B8F015-E29A-A1D2-D91E-2E34A2343A81}"/>
              </a:ext>
            </a:extLst>
          </p:cNvPr>
          <p:cNvPicPr>
            <a:picLocks noChangeAspect="1"/>
          </p:cNvPicPr>
          <p:nvPr/>
        </p:nvPicPr>
        <p:blipFill>
          <a:blip r:embed="rId3"/>
          <a:srcRect r="5882" b="-1"/>
          <a:stretch>
            <a:fillRect/>
          </a:stretch>
        </p:blipFill>
        <p:spPr>
          <a:xfrm>
            <a:off x="2522356"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652379A-E8FC-CE6D-7D9D-CE5E81F30F63}"/>
              </a:ext>
            </a:extLst>
          </p:cNvPr>
          <p:cNvSpPr>
            <a:spLocks noGrp="1"/>
          </p:cNvSpPr>
          <p:nvPr>
            <p:ph idx="1"/>
          </p:nvPr>
        </p:nvSpPr>
        <p:spPr>
          <a:xfrm>
            <a:off x="87549" y="311285"/>
            <a:ext cx="5496127" cy="5865678"/>
          </a:xfrm>
        </p:spPr>
        <p:txBody>
          <a:bodyPr>
            <a:normAutofit/>
          </a:bodyPr>
          <a:lstStyle/>
          <a:p>
            <a:r>
              <a:rPr lang="en-JM" b="1" dirty="0"/>
              <a:t>Hebrew 6:19-20</a:t>
            </a:r>
          </a:p>
          <a:p>
            <a:r>
              <a:rPr lang="en-JM" b="1" dirty="0"/>
              <a:t>Hebrews 10: 19-20</a:t>
            </a:r>
          </a:p>
        </p:txBody>
      </p:sp>
    </p:spTree>
    <p:extLst>
      <p:ext uri="{BB962C8B-B14F-4D97-AF65-F5344CB8AC3E}">
        <p14:creationId xmlns:p14="http://schemas.microsoft.com/office/powerpoint/2010/main" val="1330923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793D4-EC96-B110-CE8A-9A3EC95A50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92B5D0-08F2-7970-AC3C-4261D314CDDC}"/>
              </a:ext>
            </a:extLst>
          </p:cNvPr>
          <p:cNvSpPr>
            <a:spLocks noGrp="1"/>
          </p:cNvSpPr>
          <p:nvPr>
            <p:ph idx="1"/>
          </p:nvPr>
        </p:nvSpPr>
        <p:spPr>
          <a:xfrm>
            <a:off x="838200" y="134471"/>
            <a:ext cx="10515600" cy="6042492"/>
          </a:xfrm>
        </p:spPr>
        <p:txBody>
          <a:bodyPr/>
          <a:lstStyle/>
          <a:p>
            <a:r>
              <a:rPr lang="en-US" b="1" dirty="0"/>
              <a:t>Hebrews 6:19-20</a:t>
            </a:r>
          </a:p>
          <a:p>
            <a:pPr marL="0" indent="0">
              <a:buNone/>
            </a:pPr>
            <a:r>
              <a:rPr lang="en-US" dirty="0"/>
              <a:t>19 Which hope we have as an anchor of the soul, both sure and </a:t>
            </a:r>
            <a:r>
              <a:rPr lang="en-US" dirty="0" err="1"/>
              <a:t>stedfast</a:t>
            </a:r>
            <a:r>
              <a:rPr lang="en-US" dirty="0"/>
              <a:t>, and which </a:t>
            </a:r>
            <a:r>
              <a:rPr lang="en-US" dirty="0" err="1">
                <a:highlight>
                  <a:srgbClr val="FFFF00"/>
                </a:highlight>
              </a:rPr>
              <a:t>entereth</a:t>
            </a:r>
            <a:r>
              <a:rPr lang="en-US" dirty="0"/>
              <a:t> into that </a:t>
            </a:r>
            <a:r>
              <a:rPr lang="en-US" dirty="0">
                <a:highlight>
                  <a:srgbClr val="FFFF00"/>
                </a:highlight>
              </a:rPr>
              <a:t>within the veil</a:t>
            </a:r>
            <a:r>
              <a:rPr lang="en-US" dirty="0"/>
              <a:t>;</a:t>
            </a:r>
          </a:p>
          <a:p>
            <a:pPr marL="0" indent="0">
              <a:buNone/>
            </a:pPr>
            <a:r>
              <a:rPr lang="en-US" dirty="0"/>
              <a:t>20 Whither the forerunner is for us entered, even Jesus, made an high priest for ever after the order of Melchisedec.</a:t>
            </a:r>
          </a:p>
          <a:p>
            <a:r>
              <a:rPr lang="en-US" b="1" dirty="0"/>
              <a:t>Hebrews 10:19-20</a:t>
            </a:r>
          </a:p>
          <a:p>
            <a:pPr marL="0" indent="0">
              <a:buNone/>
            </a:pPr>
            <a:r>
              <a:rPr lang="en-US" dirty="0"/>
              <a:t>19 Therefore, brethren, having boldness[a] to enter the </a:t>
            </a:r>
            <a:r>
              <a:rPr lang="en-US" dirty="0">
                <a:highlight>
                  <a:srgbClr val="FFFF00"/>
                </a:highlight>
              </a:rPr>
              <a:t>Holiest </a:t>
            </a:r>
            <a:r>
              <a:rPr lang="en-US" dirty="0"/>
              <a:t>by the blood of Jesus, </a:t>
            </a:r>
          </a:p>
          <a:p>
            <a:pPr marL="0" indent="0">
              <a:buNone/>
            </a:pPr>
            <a:r>
              <a:rPr lang="en-US" dirty="0"/>
              <a:t>20 by a new and living way which He consecrated for us, </a:t>
            </a:r>
            <a:r>
              <a:rPr lang="en-US" dirty="0">
                <a:highlight>
                  <a:srgbClr val="FFFF00"/>
                </a:highlight>
              </a:rPr>
              <a:t>through the veil</a:t>
            </a:r>
            <a:r>
              <a:rPr lang="en-US" dirty="0"/>
              <a:t>, that is, His flesh.</a:t>
            </a:r>
          </a:p>
          <a:p>
            <a:pPr marL="0" indent="0">
              <a:buNone/>
            </a:pPr>
            <a:endParaRPr lang="en-US" dirty="0"/>
          </a:p>
          <a:p>
            <a:pPr marL="0" indent="0">
              <a:buNone/>
            </a:pPr>
            <a:endParaRPr lang="en-US" dirty="0"/>
          </a:p>
          <a:p>
            <a:pPr marL="0" indent="0">
              <a:buNone/>
            </a:pPr>
            <a:endParaRPr lang="en-JM" dirty="0"/>
          </a:p>
        </p:txBody>
      </p:sp>
    </p:spTree>
    <p:extLst>
      <p:ext uri="{BB962C8B-B14F-4D97-AF65-F5344CB8AC3E}">
        <p14:creationId xmlns:p14="http://schemas.microsoft.com/office/powerpoint/2010/main" val="3946994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2453C7-1ED9-48CE-BB80-7A23FB9C3998}"/>
              </a:ext>
            </a:extLst>
          </p:cNvPr>
          <p:cNvSpPr>
            <a:spLocks noGrp="1"/>
          </p:cNvSpPr>
          <p:nvPr>
            <p:ph type="ctrTitle"/>
          </p:nvPr>
        </p:nvSpPr>
        <p:spPr>
          <a:xfrm>
            <a:off x="207817" y="188687"/>
            <a:ext cx="11762509" cy="1411513"/>
          </a:xfrm>
        </p:spPr>
        <p:txBody>
          <a:bodyPr>
            <a:normAutofit fontScale="90000"/>
            <a:scene3d>
              <a:camera prst="orthographicFront"/>
              <a:lightRig rig="threePt" dir="t"/>
            </a:scene3d>
            <a:sp3d extrusionH="57150">
              <a:bevelT w="69850" h="69850" prst="divot"/>
            </a:sp3d>
          </a:bodyPr>
          <a:lstStyle/>
          <a:p>
            <a:pPr algn="ctr"/>
            <a:r>
              <a:rPr lang="en-US" sz="5400" b="1" spc="50" dirty="0">
                <a:ln w="0"/>
                <a:solidFill>
                  <a:schemeClr val="bg2"/>
                </a:solidFill>
                <a:effectLst>
                  <a:innerShdw blurRad="63500" dist="50800" dir="13500000">
                    <a:srgbClr val="000000">
                      <a:alpha val="50000"/>
                    </a:srgbClr>
                  </a:innerShdw>
                </a:effectLst>
                <a:latin typeface="Aharoni" panose="02010803020104030203" pitchFamily="2" charset="-79"/>
                <a:cs typeface="Aharoni" panose="02010803020104030203" pitchFamily="2" charset="-79"/>
              </a:rPr>
              <a:t>CHRIST PRIESTLY MINISTRY INAUGURATION</a:t>
            </a:r>
            <a:endParaRPr lang="en-JM" sz="5400" b="1" spc="50" dirty="0">
              <a:ln w="0"/>
              <a:solidFill>
                <a:schemeClr val="bg2"/>
              </a:solidFill>
              <a:effectLst>
                <a:innerShdw blurRad="63500" dist="50800" dir="13500000">
                  <a:srgbClr val="000000">
                    <a:alpha val="50000"/>
                  </a:srgbClr>
                </a:innerShdw>
              </a:effectLst>
              <a:latin typeface="Aharoni" panose="02010803020104030203" pitchFamily="2" charset="-79"/>
              <a:cs typeface="Aharoni" panose="02010803020104030203" pitchFamily="2" charset="-79"/>
            </a:endParaRPr>
          </a:p>
        </p:txBody>
      </p:sp>
      <p:sp>
        <p:nvSpPr>
          <p:cNvPr id="7" name="Subtitle 6">
            <a:extLst>
              <a:ext uri="{FF2B5EF4-FFF2-40B4-BE49-F238E27FC236}">
                <a16:creationId xmlns:a16="http://schemas.microsoft.com/office/drawing/2014/main" id="{44ECB128-6811-4E1B-BAC5-A4855C4B1A74}"/>
              </a:ext>
            </a:extLst>
          </p:cNvPr>
          <p:cNvSpPr>
            <a:spLocks noGrp="1"/>
          </p:cNvSpPr>
          <p:nvPr>
            <p:ph type="subTitle" idx="1"/>
          </p:nvPr>
        </p:nvSpPr>
        <p:spPr>
          <a:xfrm>
            <a:off x="3075710" y="6270171"/>
            <a:ext cx="6414654" cy="587829"/>
          </a:xfrm>
        </p:spPr>
        <p:txBody>
          <a:bodyPr/>
          <a:lstStyle/>
          <a:p>
            <a:r>
              <a:rPr lang="en-US"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BY: KIWAYNE FERRON</a:t>
            </a:r>
            <a:endParaRPr lang="en-JM"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23113239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979A7E-F1BA-4E68-976B-77F8076D29F0}"/>
              </a:ext>
            </a:extLst>
          </p:cNvPr>
          <p:cNvSpPr>
            <a:spLocks noGrp="1"/>
          </p:cNvSpPr>
          <p:nvPr>
            <p:ph type="title"/>
          </p:nvPr>
        </p:nvSpPr>
        <p:spPr>
          <a:xfrm>
            <a:off x="838200" y="631825"/>
            <a:ext cx="10515600" cy="1325563"/>
          </a:xfrm>
        </p:spPr>
        <p:txBody>
          <a:bodyPr>
            <a:normAutofit/>
          </a:bodyPr>
          <a:lstStyle/>
          <a:p>
            <a:pPr>
              <a:tabLst>
                <a:tab pos="3367088" algn="l"/>
              </a:tabLst>
            </a:pPr>
            <a:br>
              <a:rPr lang="en-JM" sz="1400" i="1"/>
            </a:br>
            <a:br>
              <a:rPr lang="en-JM" sz="1400" i="1"/>
            </a:br>
            <a:br>
              <a:rPr lang="en-JM" sz="1400" i="1"/>
            </a:br>
            <a:br>
              <a:rPr lang="en-JM" sz="1400" i="1"/>
            </a:br>
            <a:r>
              <a:rPr lang="en-JM" sz="1400"/>
              <a:t> </a:t>
            </a:r>
          </a:p>
        </p:txBody>
      </p:sp>
      <p:sp>
        <p:nvSpPr>
          <p:cNvPr id="4" name="Content Placeholder 3">
            <a:extLst>
              <a:ext uri="{FF2B5EF4-FFF2-40B4-BE49-F238E27FC236}">
                <a16:creationId xmlns:a16="http://schemas.microsoft.com/office/drawing/2014/main" id="{746DA596-3EA5-4673-BD07-6CD90B46E9AF}"/>
              </a:ext>
            </a:extLst>
          </p:cNvPr>
          <p:cNvSpPr>
            <a:spLocks noGrp="1"/>
          </p:cNvSpPr>
          <p:nvPr>
            <p:ph idx="1"/>
          </p:nvPr>
        </p:nvSpPr>
        <p:spPr>
          <a:xfrm>
            <a:off x="838200" y="631825"/>
            <a:ext cx="10515600" cy="5297337"/>
          </a:xfrm>
        </p:spPr>
        <p:txBody>
          <a:bodyPr>
            <a:normAutofit/>
          </a:bodyPr>
          <a:lstStyle/>
          <a:p>
            <a:pPr marL="0" indent="0">
              <a:buNone/>
            </a:pPr>
            <a:r>
              <a:rPr lang="en-US" sz="3600" b="1" dirty="0"/>
              <a:t>"The earthly sanctuary was only "a miniature representation of the heavenly temple," "a dim reflection of the glories of the temple of God in heaven, the great center of the work for man's redemption."—</a:t>
            </a:r>
            <a:r>
              <a:rPr lang="en-US" sz="3600" b="1" dirty="0">
                <a:solidFill>
                  <a:srgbClr val="FF0000"/>
                </a:solidFill>
              </a:rPr>
              <a:t>Patriarchs and Prophets, pp. 343, 349</a:t>
            </a:r>
            <a:r>
              <a:rPr lang="en-JM" sz="3600" b="1" dirty="0"/>
              <a:t>. </a:t>
            </a:r>
          </a:p>
          <a:p>
            <a:pPr marL="0" indent="0">
              <a:buNone/>
            </a:pPr>
            <a:endParaRPr lang="en-JM" sz="2400" dirty="0"/>
          </a:p>
        </p:txBody>
      </p:sp>
    </p:spTree>
    <p:extLst>
      <p:ext uri="{BB962C8B-B14F-4D97-AF65-F5344CB8AC3E}">
        <p14:creationId xmlns:p14="http://schemas.microsoft.com/office/powerpoint/2010/main" val="29185796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06D986-01B5-411D-9E72-65630F5224F4}"/>
              </a:ext>
            </a:extLst>
          </p:cNvPr>
          <p:cNvSpPr>
            <a:spLocks noGrp="1"/>
          </p:cNvSpPr>
          <p:nvPr>
            <p:ph type="title"/>
          </p:nvPr>
        </p:nvSpPr>
        <p:spPr>
          <a:xfrm>
            <a:off x="6096001" y="616226"/>
            <a:ext cx="5830956" cy="4810539"/>
          </a:xfrm>
        </p:spPr>
        <p:txBody>
          <a:bodyPr vert="horz" lIns="91440" tIns="45720" rIns="91440" bIns="45720" rtlCol="0" anchor="b">
            <a:normAutofit/>
          </a:bodyPr>
          <a:lstStyle/>
          <a:p>
            <a:r>
              <a:rPr lang="en-US" b="1" baseline="30000" dirty="0">
                <a:solidFill>
                  <a:srgbClr val="0070C0"/>
                </a:solidFill>
              </a:rPr>
              <a:t>Hebrews 4:14</a:t>
            </a:r>
            <a:br>
              <a:rPr lang="en-US" sz="2900" baseline="30000" dirty="0"/>
            </a:br>
            <a:br>
              <a:rPr lang="en-US" sz="2900" baseline="30000" dirty="0"/>
            </a:br>
            <a:r>
              <a:rPr lang="en-US" sz="3600" baseline="30000" dirty="0"/>
              <a:t>14 </a:t>
            </a:r>
            <a:r>
              <a:rPr lang="en-US" sz="3600" dirty="0"/>
              <a:t>Seeing then that we have a great high priest, that is passed into the heavens, Jesus the Son of God, let us hold fast our profession.</a:t>
            </a:r>
          </a:p>
        </p:txBody>
      </p:sp>
      <p:sp>
        <p:nvSpPr>
          <p:cNvPr id="11" name="Freeform: Shape 10">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A person wearing a costume&#10;&#10;Description automatically generated">
            <a:extLst>
              <a:ext uri="{FF2B5EF4-FFF2-40B4-BE49-F238E27FC236}">
                <a16:creationId xmlns:a16="http://schemas.microsoft.com/office/drawing/2014/main" id="{13C62058-BB42-4CF3-9170-C39F1B05A6C6}"/>
              </a:ext>
            </a:extLst>
          </p:cNvPr>
          <p:cNvPicPr>
            <a:picLocks noChangeAspect="1"/>
          </p:cNvPicPr>
          <p:nvPr/>
        </p:nvPicPr>
        <p:blipFill rotWithShape="1">
          <a:blip r:embed="rId2">
            <a:extLst>
              <a:ext uri="{28A0092B-C50C-407E-A947-70E740481C1C}">
                <a14:useLocalDpi xmlns:a14="http://schemas.microsoft.com/office/drawing/2010/main" val="0"/>
              </a:ext>
            </a:extLst>
          </a:blip>
          <a:srcRect b="21734"/>
          <a:stretch/>
        </p:blipFill>
        <p:spPr>
          <a:xfrm>
            <a:off x="20" y="10"/>
            <a:ext cx="6024134" cy="685799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Tree>
    <p:extLst>
      <p:ext uri="{BB962C8B-B14F-4D97-AF65-F5344CB8AC3E}">
        <p14:creationId xmlns:p14="http://schemas.microsoft.com/office/powerpoint/2010/main" val="24461330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06D986-01B5-411D-9E72-65630F5224F4}"/>
              </a:ext>
            </a:extLst>
          </p:cNvPr>
          <p:cNvSpPr>
            <a:spLocks noGrp="1"/>
          </p:cNvSpPr>
          <p:nvPr>
            <p:ph type="title"/>
          </p:nvPr>
        </p:nvSpPr>
        <p:spPr>
          <a:xfrm>
            <a:off x="6096001" y="616226"/>
            <a:ext cx="5830956" cy="4810539"/>
          </a:xfrm>
        </p:spPr>
        <p:txBody>
          <a:bodyPr vert="horz" lIns="91440" tIns="45720" rIns="91440" bIns="45720" rtlCol="0" anchor="b">
            <a:normAutofit/>
          </a:bodyPr>
          <a:lstStyle/>
          <a:p>
            <a:r>
              <a:rPr lang="en-JM" b="1" baseline="30000" dirty="0">
                <a:solidFill>
                  <a:srgbClr val="0070C0"/>
                </a:solidFill>
              </a:rPr>
              <a:t>HEB 9:12</a:t>
            </a:r>
            <a:r>
              <a:rPr lang="en-JM" b="1" dirty="0">
                <a:solidFill>
                  <a:srgbClr val="0070C0"/>
                </a:solidFill>
              </a:rPr>
              <a:t> </a:t>
            </a:r>
            <a:r>
              <a:rPr lang="en-JM" sz="3600" b="1" dirty="0"/>
              <a:t>Neither by the blood of goats and calves, but by </a:t>
            </a:r>
            <a:r>
              <a:rPr lang="en-JM" sz="3600" b="1" dirty="0">
                <a:solidFill>
                  <a:srgbClr val="FF0000"/>
                </a:solidFill>
              </a:rPr>
              <a:t>his</a:t>
            </a:r>
            <a:r>
              <a:rPr lang="en-JM" sz="3600" b="1" dirty="0"/>
              <a:t> </a:t>
            </a:r>
            <a:r>
              <a:rPr lang="en-JM" sz="3600" b="1" dirty="0">
                <a:solidFill>
                  <a:srgbClr val="FF0000"/>
                </a:solidFill>
              </a:rPr>
              <a:t>own blood </a:t>
            </a:r>
            <a:r>
              <a:rPr lang="en-JM" sz="3600" b="1" dirty="0"/>
              <a:t>he entered in once into the </a:t>
            </a:r>
            <a:r>
              <a:rPr lang="en-JM" sz="3600" b="1" dirty="0">
                <a:solidFill>
                  <a:srgbClr val="FF0000"/>
                </a:solidFill>
              </a:rPr>
              <a:t>holy place</a:t>
            </a:r>
            <a:r>
              <a:rPr lang="en-JM" sz="3600" b="1" dirty="0"/>
              <a:t>, having obtained eternal redemption for us. </a:t>
            </a:r>
            <a:r>
              <a:rPr lang="en-JM" sz="3600" b="1" baseline="30000" dirty="0">
                <a:effectLst>
                  <a:outerShdw blurRad="38100" dist="38100" dir="2700000" algn="tl">
                    <a:srgbClr val="000000">
                      <a:alpha val="43137"/>
                    </a:srgbClr>
                  </a:outerShdw>
                </a:effectLst>
              </a:rPr>
              <a:t>KJV,</a:t>
            </a:r>
            <a:br>
              <a:rPr lang="en-JM" sz="3600" b="1" dirty="0"/>
            </a:br>
            <a:endParaRPr lang="en-US" sz="3600" b="1" dirty="0"/>
          </a:p>
        </p:txBody>
      </p:sp>
      <p:pic>
        <p:nvPicPr>
          <p:cNvPr id="6" name="Picture 5" descr="A person wearing a costume&#10;&#10;Description automatically generated">
            <a:extLst>
              <a:ext uri="{FF2B5EF4-FFF2-40B4-BE49-F238E27FC236}">
                <a16:creationId xmlns:a16="http://schemas.microsoft.com/office/drawing/2014/main" id="{13C62058-BB42-4CF3-9170-C39F1B05A6C6}"/>
              </a:ext>
            </a:extLst>
          </p:cNvPr>
          <p:cNvPicPr>
            <a:picLocks noChangeAspect="1"/>
          </p:cNvPicPr>
          <p:nvPr/>
        </p:nvPicPr>
        <p:blipFill rotWithShape="1">
          <a:blip r:embed="rId3">
            <a:extLst>
              <a:ext uri="{28A0092B-C50C-407E-A947-70E740481C1C}">
                <a14:useLocalDpi xmlns:a14="http://schemas.microsoft.com/office/drawing/2010/main" val="0"/>
              </a:ext>
            </a:extLst>
          </a:blip>
          <a:srcRect b="21734"/>
          <a:stretch/>
        </p:blipFill>
        <p:spPr>
          <a:xfrm>
            <a:off x="20" y="10"/>
            <a:ext cx="6024134" cy="685799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Tree>
    <p:extLst>
      <p:ext uri="{BB962C8B-B14F-4D97-AF65-F5344CB8AC3E}">
        <p14:creationId xmlns:p14="http://schemas.microsoft.com/office/powerpoint/2010/main" val="4162749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B0F0A-0A14-47C7-A068-7C08F2BE14F9}"/>
              </a:ext>
            </a:extLst>
          </p:cNvPr>
          <p:cNvSpPr>
            <a:spLocks noGrp="1"/>
          </p:cNvSpPr>
          <p:nvPr>
            <p:ph type="title"/>
          </p:nvPr>
        </p:nvSpPr>
        <p:spPr>
          <a:xfrm>
            <a:off x="650449" y="2854036"/>
            <a:ext cx="10901471" cy="4003963"/>
          </a:xfrm>
          <a:noFill/>
        </p:spPr>
        <p:txBody>
          <a:bodyPr vert="horz" lIns="91440" tIns="45720" rIns="91440" bIns="45720" rtlCol="0" anchor="b">
            <a:noAutofit/>
          </a:bodyPr>
          <a:lstStyle/>
          <a:p>
            <a:r>
              <a:rPr lang="en-US" sz="3600" b="1" dirty="0"/>
              <a:t>We know its length from the book of Acts. After Christ ascended to heaven </a:t>
            </a:r>
            <a:r>
              <a:rPr lang="en-US" sz="3600" b="1" i="1" dirty="0"/>
              <a:t>(</a:t>
            </a:r>
            <a:r>
              <a:rPr lang="en-US" sz="3600" b="1" i="1" dirty="0">
                <a:solidFill>
                  <a:srgbClr val="FF0000"/>
                </a:solidFill>
              </a:rPr>
              <a:t>Acts 1:9</a:t>
            </a:r>
            <a:r>
              <a:rPr lang="en-US" sz="3600" b="1" i="1" dirty="0"/>
              <a:t>),</a:t>
            </a:r>
            <a:r>
              <a:rPr lang="en-US" sz="3600" b="1" dirty="0"/>
              <a:t> His disciples gathered and earnestly prayed for guidance and help in carrying forward the awesome task before them: telling all the world about salvation through their Lord and </a:t>
            </a:r>
            <a:r>
              <a:rPr lang="en-US" sz="3600" b="1" dirty="0" err="1"/>
              <a:t>Saviour</a:t>
            </a:r>
            <a:r>
              <a:rPr lang="en-US" sz="3600" b="1" dirty="0"/>
              <a:t>, Jesus Christ. They had been told to "wait" for the promised Holy Spirit</a:t>
            </a:r>
            <a:r>
              <a:rPr lang="en-US" sz="3600" b="1" i="1" dirty="0"/>
              <a:t> (</a:t>
            </a:r>
            <a:r>
              <a:rPr lang="en-US" sz="3600" b="1" i="1" dirty="0">
                <a:solidFill>
                  <a:srgbClr val="FF0000"/>
                </a:solidFill>
              </a:rPr>
              <a:t>Acts 1:4, 8</a:t>
            </a:r>
            <a:r>
              <a:rPr lang="en-US" sz="3600" b="1" i="1" dirty="0"/>
              <a:t>).</a:t>
            </a:r>
            <a:br>
              <a:rPr lang="en-US" sz="3600" dirty="0"/>
            </a:br>
            <a:endParaRPr lang="en-US" sz="3600" dirty="0"/>
          </a:p>
        </p:txBody>
      </p:sp>
      <p:pic>
        <p:nvPicPr>
          <p:cNvPr id="4" name="Picture 3" descr="A hand holding a piece of wood&#10;&#10;Description automatically generated">
            <a:extLst>
              <a:ext uri="{FF2B5EF4-FFF2-40B4-BE49-F238E27FC236}">
                <a16:creationId xmlns:a16="http://schemas.microsoft.com/office/drawing/2014/main" id="{487D47B5-2F89-4CBA-927F-18AC059F03F9}"/>
              </a:ext>
            </a:extLst>
          </p:cNvPr>
          <p:cNvPicPr>
            <a:picLocks noChangeAspect="1"/>
          </p:cNvPicPr>
          <p:nvPr/>
        </p:nvPicPr>
        <p:blipFill rotWithShape="1">
          <a:blip r:embed="rId2">
            <a:extLst>
              <a:ext uri="{28A0092B-C50C-407E-A947-70E740481C1C}">
                <a14:useLocalDpi xmlns:a14="http://schemas.microsoft.com/office/drawing/2010/main" val="0"/>
              </a:ext>
            </a:extLst>
          </a:blip>
          <a:srcRect t="39318" b="14318"/>
          <a:stretch/>
        </p:blipFill>
        <p:spPr>
          <a:xfrm>
            <a:off x="20" y="1"/>
            <a:ext cx="12191979" cy="2685142"/>
          </a:xfrm>
          <a:prstGeom prst="rect">
            <a:avLst/>
          </a:prstGeom>
        </p:spPr>
      </p:pic>
    </p:spTree>
    <p:extLst>
      <p:ext uri="{BB962C8B-B14F-4D97-AF65-F5344CB8AC3E}">
        <p14:creationId xmlns:p14="http://schemas.microsoft.com/office/powerpoint/2010/main" val="5142640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979A7E-F1BA-4E68-976B-77F8076D29F0}"/>
              </a:ext>
            </a:extLst>
          </p:cNvPr>
          <p:cNvSpPr>
            <a:spLocks noGrp="1"/>
          </p:cNvSpPr>
          <p:nvPr>
            <p:ph type="title"/>
          </p:nvPr>
        </p:nvSpPr>
        <p:spPr>
          <a:xfrm>
            <a:off x="838200" y="631825"/>
            <a:ext cx="10515600" cy="1325563"/>
          </a:xfrm>
        </p:spPr>
        <p:txBody>
          <a:bodyPr>
            <a:normAutofit/>
          </a:bodyPr>
          <a:lstStyle/>
          <a:p>
            <a:pPr>
              <a:tabLst>
                <a:tab pos="3367088" algn="l"/>
              </a:tabLst>
            </a:pPr>
            <a:br>
              <a:rPr lang="en-JM" sz="1400" i="1"/>
            </a:br>
            <a:br>
              <a:rPr lang="en-JM" sz="1400" i="1"/>
            </a:br>
            <a:br>
              <a:rPr lang="en-JM" sz="1400" i="1"/>
            </a:br>
            <a:br>
              <a:rPr lang="en-JM" sz="1400" i="1"/>
            </a:br>
            <a:r>
              <a:rPr lang="en-JM" sz="1400"/>
              <a:t> </a:t>
            </a:r>
          </a:p>
        </p:txBody>
      </p:sp>
      <p:sp>
        <p:nvSpPr>
          <p:cNvPr id="4" name="Content Placeholder 3">
            <a:extLst>
              <a:ext uri="{FF2B5EF4-FFF2-40B4-BE49-F238E27FC236}">
                <a16:creationId xmlns:a16="http://schemas.microsoft.com/office/drawing/2014/main" id="{746DA596-3EA5-4673-BD07-6CD90B46E9AF}"/>
              </a:ext>
            </a:extLst>
          </p:cNvPr>
          <p:cNvSpPr>
            <a:spLocks noGrp="1"/>
          </p:cNvSpPr>
          <p:nvPr>
            <p:ph idx="1"/>
          </p:nvPr>
        </p:nvSpPr>
        <p:spPr>
          <a:xfrm>
            <a:off x="838200" y="631825"/>
            <a:ext cx="10515600" cy="5297337"/>
          </a:xfrm>
        </p:spPr>
        <p:txBody>
          <a:bodyPr>
            <a:normAutofit lnSpcReduction="10000"/>
          </a:bodyPr>
          <a:lstStyle/>
          <a:p>
            <a:pPr marL="0" indent="0">
              <a:buNone/>
            </a:pPr>
            <a:r>
              <a:rPr lang="en-JM" sz="3600" b="1" dirty="0"/>
              <a:t>This prayer session was interspersed with daily witnessing in Jerusalem</a:t>
            </a:r>
            <a:r>
              <a:rPr lang="en-JM" sz="3600" b="1" i="1" dirty="0"/>
              <a:t> (</a:t>
            </a:r>
            <a:r>
              <a:rPr lang="en-JM" sz="3600" b="1" i="1" dirty="0">
                <a:solidFill>
                  <a:srgbClr val="FF0000"/>
                </a:solidFill>
              </a:rPr>
              <a:t>Luke 24:50-53</a:t>
            </a:r>
            <a:r>
              <a:rPr lang="en-JM" sz="3600" b="1" i="1" dirty="0"/>
              <a:t>).</a:t>
            </a:r>
          </a:p>
          <a:p>
            <a:pPr marL="0" indent="0">
              <a:buNone/>
            </a:pPr>
            <a:r>
              <a:rPr lang="en-US" sz="3600" b="1" baseline="30000" dirty="0"/>
              <a:t>50</a:t>
            </a:r>
            <a:r>
              <a:rPr lang="en-US" sz="3600" baseline="30000" dirty="0">
                <a:solidFill>
                  <a:srgbClr val="002060"/>
                </a:solidFill>
              </a:rPr>
              <a:t> </a:t>
            </a:r>
            <a:r>
              <a:rPr lang="en-US" sz="3600" b="1" dirty="0">
                <a:solidFill>
                  <a:srgbClr val="002060"/>
                </a:solidFill>
              </a:rPr>
              <a:t>And he led them out as far as to Bethany, and he lifted up his hands, and blessed them.</a:t>
            </a:r>
          </a:p>
          <a:p>
            <a:pPr marL="0" indent="0">
              <a:buNone/>
            </a:pPr>
            <a:r>
              <a:rPr lang="en-US" sz="3600" b="1" baseline="30000" dirty="0"/>
              <a:t>51 </a:t>
            </a:r>
            <a:r>
              <a:rPr lang="en-US" sz="3600" b="1" dirty="0">
                <a:solidFill>
                  <a:srgbClr val="002060"/>
                </a:solidFill>
              </a:rPr>
              <a:t>And it came to pass, while he blessed them, he was parted from them, and carried up into heaven.</a:t>
            </a:r>
          </a:p>
          <a:p>
            <a:pPr marL="0" indent="0">
              <a:buNone/>
            </a:pPr>
            <a:r>
              <a:rPr lang="en-US" sz="3600" b="1" baseline="30000" dirty="0"/>
              <a:t> 52 </a:t>
            </a:r>
            <a:r>
              <a:rPr lang="en-US" sz="3600" b="1" dirty="0">
                <a:solidFill>
                  <a:srgbClr val="002060"/>
                </a:solidFill>
              </a:rPr>
              <a:t>And they worshipped him, and returned to Jerusalem with great joy:</a:t>
            </a:r>
          </a:p>
          <a:p>
            <a:pPr marL="0" indent="0">
              <a:buNone/>
            </a:pPr>
            <a:r>
              <a:rPr lang="en-US" sz="3600" b="1" baseline="30000" dirty="0"/>
              <a:t>53 </a:t>
            </a:r>
            <a:r>
              <a:rPr lang="en-US" sz="3600" b="1" dirty="0">
                <a:solidFill>
                  <a:srgbClr val="002060"/>
                </a:solidFill>
              </a:rPr>
              <a:t>And were continually in the temple, praising and blessing God. Amen.</a:t>
            </a:r>
          </a:p>
          <a:p>
            <a:endParaRPr lang="en-JM" sz="2400" dirty="0"/>
          </a:p>
        </p:txBody>
      </p:sp>
    </p:spTree>
    <p:extLst>
      <p:ext uri="{BB962C8B-B14F-4D97-AF65-F5344CB8AC3E}">
        <p14:creationId xmlns:p14="http://schemas.microsoft.com/office/powerpoint/2010/main" val="18475787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979A7E-F1BA-4E68-976B-77F8076D29F0}"/>
              </a:ext>
            </a:extLst>
          </p:cNvPr>
          <p:cNvSpPr>
            <a:spLocks noGrp="1"/>
          </p:cNvSpPr>
          <p:nvPr>
            <p:ph type="title"/>
          </p:nvPr>
        </p:nvSpPr>
        <p:spPr>
          <a:xfrm>
            <a:off x="838200" y="631825"/>
            <a:ext cx="10515600" cy="1325563"/>
          </a:xfrm>
        </p:spPr>
        <p:txBody>
          <a:bodyPr>
            <a:normAutofit/>
          </a:bodyPr>
          <a:lstStyle/>
          <a:p>
            <a:pPr>
              <a:tabLst>
                <a:tab pos="3367088" algn="l"/>
              </a:tabLst>
            </a:pPr>
            <a:br>
              <a:rPr lang="en-JM" sz="1400" i="1"/>
            </a:br>
            <a:br>
              <a:rPr lang="en-JM" sz="1400" i="1"/>
            </a:br>
            <a:br>
              <a:rPr lang="en-JM" sz="1400" i="1"/>
            </a:br>
            <a:br>
              <a:rPr lang="en-JM" sz="1400" i="1"/>
            </a:br>
            <a:r>
              <a:rPr lang="en-JM" sz="1400"/>
              <a:t> </a:t>
            </a:r>
          </a:p>
        </p:txBody>
      </p:sp>
      <p:sp>
        <p:nvSpPr>
          <p:cNvPr id="4" name="Content Placeholder 3">
            <a:extLst>
              <a:ext uri="{FF2B5EF4-FFF2-40B4-BE49-F238E27FC236}">
                <a16:creationId xmlns:a16="http://schemas.microsoft.com/office/drawing/2014/main" id="{746DA596-3EA5-4673-BD07-6CD90B46E9AF}"/>
              </a:ext>
            </a:extLst>
          </p:cNvPr>
          <p:cNvSpPr>
            <a:spLocks noGrp="1"/>
          </p:cNvSpPr>
          <p:nvPr>
            <p:ph idx="1"/>
          </p:nvPr>
        </p:nvSpPr>
        <p:spPr>
          <a:xfrm>
            <a:off x="838200" y="631825"/>
            <a:ext cx="10515600" cy="5297337"/>
          </a:xfrm>
        </p:spPr>
        <p:txBody>
          <a:bodyPr>
            <a:normAutofit/>
          </a:bodyPr>
          <a:lstStyle/>
          <a:p>
            <a:pPr marL="0" indent="0">
              <a:buNone/>
            </a:pPr>
            <a:endParaRPr lang="en-US" sz="3600" b="1" dirty="0">
              <a:solidFill>
                <a:srgbClr val="002060"/>
              </a:solidFill>
            </a:endParaRPr>
          </a:p>
          <a:p>
            <a:pPr marL="0" indent="0">
              <a:buNone/>
            </a:pPr>
            <a:r>
              <a:rPr lang="en-JM" sz="3600" b="1" dirty="0"/>
              <a:t>We are specifically told that ten days after the ascension, there occurred a dramatic outpouring of the Holy Spirit. </a:t>
            </a:r>
          </a:p>
          <a:p>
            <a:pPr marL="0" indent="0">
              <a:buNone/>
            </a:pPr>
            <a:endParaRPr lang="en-JM" sz="2400" dirty="0"/>
          </a:p>
        </p:txBody>
      </p:sp>
    </p:spTree>
    <p:extLst>
      <p:ext uri="{BB962C8B-B14F-4D97-AF65-F5344CB8AC3E}">
        <p14:creationId xmlns:p14="http://schemas.microsoft.com/office/powerpoint/2010/main" val="28512987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979A7E-F1BA-4E68-976B-77F8076D29F0}"/>
              </a:ext>
            </a:extLst>
          </p:cNvPr>
          <p:cNvSpPr>
            <a:spLocks noGrp="1"/>
          </p:cNvSpPr>
          <p:nvPr>
            <p:ph type="title"/>
          </p:nvPr>
        </p:nvSpPr>
        <p:spPr>
          <a:xfrm>
            <a:off x="838200" y="631825"/>
            <a:ext cx="10515600" cy="1325563"/>
          </a:xfrm>
        </p:spPr>
        <p:txBody>
          <a:bodyPr>
            <a:normAutofit/>
          </a:bodyPr>
          <a:lstStyle/>
          <a:p>
            <a:pPr>
              <a:tabLst>
                <a:tab pos="3367088" algn="l"/>
              </a:tabLst>
            </a:pPr>
            <a:br>
              <a:rPr lang="en-JM" sz="1400" i="1"/>
            </a:br>
            <a:br>
              <a:rPr lang="en-JM" sz="1400" i="1"/>
            </a:br>
            <a:br>
              <a:rPr lang="en-JM" sz="1400" i="1"/>
            </a:br>
            <a:br>
              <a:rPr lang="en-JM" sz="1400" i="1"/>
            </a:br>
            <a:r>
              <a:rPr lang="en-JM" sz="1400"/>
              <a:t> </a:t>
            </a:r>
          </a:p>
        </p:txBody>
      </p:sp>
      <p:sp>
        <p:nvSpPr>
          <p:cNvPr id="4" name="Content Placeholder 3">
            <a:extLst>
              <a:ext uri="{FF2B5EF4-FFF2-40B4-BE49-F238E27FC236}">
                <a16:creationId xmlns:a16="http://schemas.microsoft.com/office/drawing/2014/main" id="{746DA596-3EA5-4673-BD07-6CD90B46E9AF}"/>
              </a:ext>
            </a:extLst>
          </p:cNvPr>
          <p:cNvSpPr>
            <a:spLocks noGrp="1"/>
          </p:cNvSpPr>
          <p:nvPr>
            <p:ph idx="1"/>
          </p:nvPr>
        </p:nvSpPr>
        <p:spPr>
          <a:xfrm>
            <a:off x="838200" y="631825"/>
            <a:ext cx="10515600" cy="5297337"/>
          </a:xfrm>
        </p:spPr>
        <p:txBody>
          <a:bodyPr>
            <a:normAutofit/>
          </a:bodyPr>
          <a:lstStyle/>
          <a:p>
            <a:pPr marL="0" indent="0">
              <a:buNone/>
            </a:pPr>
            <a:r>
              <a:rPr lang="en-JM" sz="3600" b="1" dirty="0"/>
              <a:t>While instruction was being given to Moses regarding the erection of the sanctuary when he was in the mount with God during the forty days and forty nights, he was commanded to prepare a special anointing oil with which the tabernacle was to be anointed and the priests consecrated, before the ministry in the sanctuary was undertaken.</a:t>
            </a:r>
          </a:p>
          <a:p>
            <a:pPr marL="0" indent="0">
              <a:buNone/>
            </a:pPr>
            <a:endParaRPr lang="en-JM" sz="2400" dirty="0"/>
          </a:p>
        </p:txBody>
      </p:sp>
    </p:spTree>
    <p:extLst>
      <p:ext uri="{BB962C8B-B14F-4D97-AF65-F5344CB8AC3E}">
        <p14:creationId xmlns:p14="http://schemas.microsoft.com/office/powerpoint/2010/main" val="24097055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CA134E5-59F4-435B-9FCD-8602EA331AA1}"/>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t="12451"/>
          <a:stretch/>
        </p:blipFill>
        <p:spPr>
          <a:xfrm>
            <a:off x="20" y="1"/>
            <a:ext cx="12191980" cy="6857999"/>
          </a:xfrm>
          <a:prstGeom prst="rect">
            <a:avLst/>
          </a:prstGeom>
        </p:spPr>
      </p:pic>
      <p:sp>
        <p:nvSpPr>
          <p:cNvPr id="4" name="Title 3">
            <a:extLst>
              <a:ext uri="{FF2B5EF4-FFF2-40B4-BE49-F238E27FC236}">
                <a16:creationId xmlns:a16="http://schemas.microsoft.com/office/drawing/2014/main" id="{79557C25-49F7-4E9A-8962-845312AC32E8}"/>
              </a:ext>
            </a:extLst>
          </p:cNvPr>
          <p:cNvSpPr>
            <a:spLocks noGrp="1"/>
          </p:cNvSpPr>
          <p:nvPr>
            <p:ph type="title"/>
          </p:nvPr>
        </p:nvSpPr>
        <p:spPr>
          <a:xfrm>
            <a:off x="478971" y="193964"/>
            <a:ext cx="11553372" cy="6442363"/>
          </a:xfrm>
        </p:spPr>
        <p:txBody>
          <a:bodyPr vert="horz" lIns="91440" tIns="45720" rIns="91440" bIns="45720" rtlCol="0" anchor="b">
            <a:normAutofit fontScale="90000"/>
          </a:bodyPr>
          <a:lstStyle/>
          <a:p>
            <a:r>
              <a:rPr lang="en-US" sz="3100" b="1" dirty="0">
                <a:solidFill>
                  <a:srgbClr val="FF0000"/>
                </a:solidFill>
              </a:rPr>
              <a:t>Exodus</a:t>
            </a:r>
            <a:r>
              <a:rPr lang="en-US" sz="2900" b="1" dirty="0">
                <a:solidFill>
                  <a:srgbClr val="FF0000"/>
                </a:solidFill>
              </a:rPr>
              <a:t> 24:1-2 </a:t>
            </a:r>
            <a:r>
              <a:rPr lang="en-US" sz="2900" b="1" dirty="0">
                <a:solidFill>
                  <a:srgbClr val="FFFFFF"/>
                </a:solidFill>
              </a:rPr>
              <a:t>King James Version (KJV)</a:t>
            </a:r>
            <a:br>
              <a:rPr lang="en-US" sz="2900" b="1" dirty="0">
                <a:solidFill>
                  <a:srgbClr val="FFFFFF"/>
                </a:solidFill>
              </a:rPr>
            </a:br>
            <a:r>
              <a:rPr lang="en-US" sz="2900" b="1" dirty="0">
                <a:solidFill>
                  <a:srgbClr val="FFFFFF"/>
                </a:solidFill>
              </a:rPr>
              <a:t>24 And he said unto Moses, Come up unto the </a:t>
            </a:r>
            <a:r>
              <a:rPr lang="en-US" sz="2900" b="1" cap="small" dirty="0">
                <a:solidFill>
                  <a:srgbClr val="FFFFFF"/>
                </a:solidFill>
              </a:rPr>
              <a:t>Lord</a:t>
            </a:r>
            <a:r>
              <a:rPr lang="en-US" sz="2900" b="1" dirty="0">
                <a:solidFill>
                  <a:srgbClr val="FFFFFF"/>
                </a:solidFill>
              </a:rPr>
              <a:t>, thou, and Aaron, Nadab, and Abihu, and seventy of the elders of Israel; and worship ye afar off.</a:t>
            </a:r>
            <a:br>
              <a:rPr lang="en-US" sz="2900" b="1" dirty="0">
                <a:solidFill>
                  <a:srgbClr val="FFFFFF"/>
                </a:solidFill>
              </a:rPr>
            </a:br>
            <a:r>
              <a:rPr lang="en-US" sz="2900" b="1" baseline="30000" dirty="0">
                <a:solidFill>
                  <a:srgbClr val="FFFFFF"/>
                </a:solidFill>
              </a:rPr>
              <a:t>2 </a:t>
            </a:r>
            <a:r>
              <a:rPr lang="en-US" sz="2900" b="1" dirty="0">
                <a:solidFill>
                  <a:srgbClr val="FFFFFF"/>
                </a:solidFill>
              </a:rPr>
              <a:t>And Moses alone shall come near the </a:t>
            </a:r>
            <a:r>
              <a:rPr lang="en-US" sz="2900" b="1" cap="small" dirty="0">
                <a:solidFill>
                  <a:srgbClr val="FFFFFF"/>
                </a:solidFill>
              </a:rPr>
              <a:t>Lord</a:t>
            </a:r>
            <a:r>
              <a:rPr lang="en-US" sz="2900" b="1" dirty="0">
                <a:solidFill>
                  <a:srgbClr val="FFFFFF"/>
                </a:solidFill>
              </a:rPr>
              <a:t>: but they shall not come nigh; neither shall the people go up with him.</a:t>
            </a:r>
            <a:br>
              <a:rPr lang="en-US" sz="2900" b="1" dirty="0">
                <a:solidFill>
                  <a:srgbClr val="FFFFFF"/>
                </a:solidFill>
              </a:rPr>
            </a:br>
            <a:br>
              <a:rPr lang="en-US" sz="2900" b="1" dirty="0">
                <a:solidFill>
                  <a:srgbClr val="FFFFFF"/>
                </a:solidFill>
              </a:rPr>
            </a:br>
            <a:r>
              <a:rPr lang="en-US" sz="3200" b="1" dirty="0">
                <a:solidFill>
                  <a:srgbClr val="FF0000"/>
                </a:solidFill>
              </a:rPr>
              <a:t>Exodus 24:18 </a:t>
            </a:r>
            <a:r>
              <a:rPr lang="en-US" sz="3200" b="1" dirty="0"/>
              <a:t>And Moses went into the midst of the cloud, and gat him up into the mount: and Moses was in the mount forty days and forty nights.</a:t>
            </a:r>
            <a:br>
              <a:rPr lang="en-US" sz="3200" b="1" dirty="0"/>
            </a:br>
            <a:br>
              <a:rPr lang="en-US" sz="3200" dirty="0">
                <a:solidFill>
                  <a:srgbClr val="FF0000"/>
                </a:solidFill>
              </a:rPr>
            </a:br>
            <a:r>
              <a:rPr lang="en-US" sz="3100" b="1" dirty="0">
                <a:solidFill>
                  <a:srgbClr val="FF0000"/>
                </a:solidFill>
              </a:rPr>
              <a:t>Exodus 30:25-26 </a:t>
            </a:r>
            <a:br>
              <a:rPr lang="en-US" sz="3200" b="1" dirty="0"/>
            </a:br>
            <a:r>
              <a:rPr lang="en-US" sz="3200" b="1" baseline="30000" dirty="0"/>
              <a:t>25 </a:t>
            </a:r>
            <a:r>
              <a:rPr lang="en-US" sz="3200" b="1" dirty="0"/>
              <a:t>And thou shalt make it an oil of holy ointment, an ointment compound after the art of the apothecary: it shall be an holy anointing oil.</a:t>
            </a:r>
            <a:br>
              <a:rPr lang="en-US" sz="3200" b="1" dirty="0"/>
            </a:br>
            <a:r>
              <a:rPr lang="en-US" sz="3200" b="1" baseline="30000" dirty="0"/>
              <a:t>26 </a:t>
            </a:r>
            <a:r>
              <a:rPr lang="en-US" sz="3200" b="1" dirty="0"/>
              <a:t>And thou shalt anoint the tabernacle of the congregation therewith, and the ark of the testimony</a:t>
            </a:r>
            <a:br>
              <a:rPr lang="en-US" sz="3200" dirty="0"/>
            </a:br>
            <a:endParaRPr lang="en-US" sz="2900" b="1" dirty="0">
              <a:solidFill>
                <a:srgbClr val="FFFFFF"/>
              </a:solidFill>
            </a:endParaRPr>
          </a:p>
        </p:txBody>
      </p:sp>
    </p:spTree>
    <p:extLst>
      <p:ext uri="{BB962C8B-B14F-4D97-AF65-F5344CB8AC3E}">
        <p14:creationId xmlns:p14="http://schemas.microsoft.com/office/powerpoint/2010/main" val="2781352806"/>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87F84FC2-B65E-4F13-999A-50D7B1CBEB21}"/>
              </a:ext>
            </a:extLst>
          </p:cNvPr>
          <p:cNvSpPr>
            <a:spLocks noGrp="1"/>
          </p:cNvSpPr>
          <p:nvPr>
            <p:ph type="title"/>
          </p:nvPr>
        </p:nvSpPr>
        <p:spPr>
          <a:xfrm>
            <a:off x="101600" y="0"/>
            <a:ext cx="11988800" cy="5196114"/>
          </a:xfrm>
        </p:spPr>
        <p:txBody>
          <a:bodyPr vert="horz" lIns="91440" tIns="45720" rIns="91440" bIns="45720" rtlCol="0" anchor="ctr">
            <a:normAutofit/>
          </a:bodyPr>
          <a:lstStyle/>
          <a:p>
            <a:r>
              <a:rPr lang="en-US" sz="3600" b="1" kern="1200" dirty="0">
                <a:latin typeface="+mj-lt"/>
                <a:ea typeface="+mj-ea"/>
                <a:cs typeface="+mj-cs"/>
              </a:rPr>
              <a:t>In regard to the consecration of the high priest and his associate priests, it is written</a:t>
            </a:r>
            <a:r>
              <a:rPr lang="en-US" sz="3600" b="1" kern="1200" dirty="0">
                <a:solidFill>
                  <a:srgbClr val="FFFFFF"/>
                </a:solidFill>
                <a:latin typeface="+mj-lt"/>
                <a:ea typeface="+mj-ea"/>
                <a:cs typeface="+mj-cs"/>
              </a:rPr>
              <a:t>:</a:t>
            </a:r>
            <a:br>
              <a:rPr lang="en-US" sz="3600" b="1" kern="1200" dirty="0">
                <a:solidFill>
                  <a:srgbClr val="FFFFFF"/>
                </a:solidFill>
                <a:latin typeface="+mj-lt"/>
                <a:ea typeface="+mj-ea"/>
                <a:cs typeface="+mj-cs"/>
              </a:rPr>
            </a:br>
            <a:r>
              <a:rPr lang="en-US" sz="3600" b="1" kern="1200" dirty="0">
                <a:solidFill>
                  <a:srgbClr val="FFFFFF"/>
                </a:solidFill>
                <a:latin typeface="+mj-lt"/>
                <a:ea typeface="+mj-ea"/>
                <a:cs typeface="+mj-cs"/>
              </a:rPr>
              <a:t>"Thou shalt anoint Aaron and his sons, and con­secrate them, that they may minister unto Me in the priest's office. And thou shalt speak unto the children of Israel, saying, This shall be a holy anointing oil unto Me throughout your generations. 'Upon man's flesh shall it not be poured, neither shall ye make any other like it, after the composition of it: it is holy, and it shall be holy unto you." </a:t>
            </a:r>
            <a:r>
              <a:rPr lang="en-US" sz="3600" b="1" u="sng" kern="1200" dirty="0">
                <a:solidFill>
                  <a:srgbClr val="FF0000"/>
                </a:solidFill>
                <a:latin typeface="+mj-lt"/>
                <a:ea typeface="+mj-ea"/>
                <a:cs typeface="+mj-cs"/>
                <a:hlinkClick r:id="rId3">
                  <a:extLst>
                    <a:ext uri="{A12FA001-AC4F-418D-AE19-62706E023703}">
                      <ahyp:hlinkClr xmlns:ahyp="http://schemas.microsoft.com/office/drawing/2018/hyperlinkcolor" val="tx"/>
                    </a:ext>
                  </a:extLst>
                </a:hlinkClick>
              </a:rPr>
              <a:t>Ex. 30:30-32</a:t>
            </a:r>
            <a:r>
              <a:rPr lang="en-US" sz="3600" b="1" kern="1200" dirty="0">
                <a:solidFill>
                  <a:srgbClr val="FFFFFF"/>
                </a:solidFill>
                <a:latin typeface="+mj-lt"/>
                <a:ea typeface="+mj-ea"/>
                <a:cs typeface="+mj-cs"/>
              </a:rPr>
              <a:t>.</a:t>
            </a:r>
            <a:br>
              <a:rPr lang="en-US" sz="2100" kern="1200" dirty="0">
                <a:solidFill>
                  <a:srgbClr val="FFFFFF"/>
                </a:solidFill>
                <a:latin typeface="+mj-lt"/>
                <a:ea typeface="+mj-ea"/>
                <a:cs typeface="+mj-cs"/>
              </a:rPr>
            </a:br>
            <a:endParaRPr lang="en-US" sz="2100" kern="1200" dirty="0">
              <a:solidFill>
                <a:srgbClr val="FFFFFF"/>
              </a:solidFill>
              <a:latin typeface="+mj-lt"/>
              <a:ea typeface="+mj-ea"/>
              <a:cs typeface="+mj-cs"/>
            </a:endParaRPr>
          </a:p>
        </p:txBody>
      </p:sp>
    </p:spTree>
    <p:extLst>
      <p:ext uri="{BB962C8B-B14F-4D97-AF65-F5344CB8AC3E}">
        <p14:creationId xmlns:p14="http://schemas.microsoft.com/office/powerpoint/2010/main" val="2694700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16E53CDD-A0C8-4E91-BFD1-56F92E11E7BA}"/>
              </a:ext>
            </a:extLst>
          </p:cNvPr>
          <p:cNvSpPr>
            <a:spLocks noGrp="1"/>
          </p:cNvSpPr>
          <p:nvPr>
            <p:ph type="title"/>
          </p:nvPr>
        </p:nvSpPr>
        <p:spPr>
          <a:xfrm>
            <a:off x="159657" y="180109"/>
            <a:ext cx="11872686" cy="4551547"/>
          </a:xfrm>
        </p:spPr>
        <p:txBody>
          <a:bodyPr vert="horz" lIns="91440" tIns="45720" rIns="91440" bIns="45720" rtlCol="0" anchor="ctr">
            <a:normAutofit/>
          </a:bodyPr>
          <a:lstStyle/>
          <a:p>
            <a:r>
              <a:rPr lang="en-US" sz="3600" b="1" kern="1200" dirty="0">
                <a:latin typeface="+mj-lt"/>
                <a:ea typeface="+mj-ea"/>
                <a:cs typeface="+mj-cs"/>
              </a:rPr>
              <a:t>When the sanctuary was made and its parts were all put together, the following command came to Moses:</a:t>
            </a:r>
            <a:br>
              <a:rPr lang="en-US" sz="3600" b="1" kern="1200" dirty="0">
                <a:solidFill>
                  <a:srgbClr val="FFFFFF"/>
                </a:solidFill>
                <a:latin typeface="+mj-lt"/>
                <a:ea typeface="+mj-ea"/>
                <a:cs typeface="+mj-cs"/>
              </a:rPr>
            </a:br>
            <a:r>
              <a:rPr lang="en-US" sz="3600" b="1" kern="1200" dirty="0">
                <a:solidFill>
                  <a:srgbClr val="FFFFFF"/>
                </a:solidFill>
                <a:latin typeface="+mj-lt"/>
                <a:ea typeface="+mj-ea"/>
                <a:cs typeface="+mj-cs"/>
              </a:rPr>
              <a:t>"Take Aaron and his sons with him, and the gar­ments, and the anointing oil, and a bullock for the sin offering; ... and gather thou all the congregation together unto the door of the tabernacle of the con­gregation.... And Moses said unto the congregation, This is the thing which the Lord commanded to be done." </a:t>
            </a:r>
            <a:r>
              <a:rPr lang="en-US" sz="3600" b="1" u="sng" kern="1200" dirty="0">
                <a:solidFill>
                  <a:srgbClr val="FF0000"/>
                </a:solidFill>
                <a:latin typeface="+mj-lt"/>
                <a:ea typeface="+mj-ea"/>
                <a:cs typeface="+mj-cs"/>
                <a:hlinkClick r:id="rId3">
                  <a:extLst>
                    <a:ext uri="{A12FA001-AC4F-418D-AE19-62706E023703}">
                      <ahyp:hlinkClr xmlns:ahyp="http://schemas.microsoft.com/office/drawing/2018/hyperlinkcolor" val="tx"/>
                    </a:ext>
                  </a:extLst>
                </a:hlinkClick>
              </a:rPr>
              <a:t>Lev. 8:2-5</a:t>
            </a:r>
            <a:r>
              <a:rPr lang="en-US" sz="3600" b="1" kern="1200" dirty="0">
                <a:solidFill>
                  <a:srgbClr val="FFFFFF"/>
                </a:solidFill>
                <a:latin typeface="+mj-lt"/>
                <a:ea typeface="+mj-ea"/>
                <a:cs typeface="+mj-cs"/>
              </a:rPr>
              <a:t>.</a:t>
            </a:r>
            <a:br>
              <a:rPr lang="en-US" sz="3600" kern="1200" dirty="0">
                <a:solidFill>
                  <a:srgbClr val="FFFFFF"/>
                </a:solidFill>
                <a:latin typeface="+mj-lt"/>
                <a:ea typeface="+mj-ea"/>
                <a:cs typeface="+mj-cs"/>
              </a:rPr>
            </a:br>
            <a:endParaRPr lang="en-US" sz="3600" kern="1200" dirty="0">
              <a:solidFill>
                <a:srgbClr val="FFFFFF"/>
              </a:solidFill>
              <a:latin typeface="+mj-lt"/>
              <a:ea typeface="+mj-ea"/>
              <a:cs typeface="+mj-cs"/>
            </a:endParaRPr>
          </a:p>
        </p:txBody>
      </p:sp>
    </p:spTree>
    <p:extLst>
      <p:ext uri="{BB962C8B-B14F-4D97-AF65-F5344CB8AC3E}">
        <p14:creationId xmlns:p14="http://schemas.microsoft.com/office/powerpoint/2010/main" val="2537756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973E1672-6509-4B28-B22B-4FBD8675A6D0}"/>
              </a:ext>
            </a:extLst>
          </p:cNvPr>
          <p:cNvSpPr>
            <a:spLocks noGrp="1"/>
          </p:cNvSpPr>
          <p:nvPr>
            <p:ph type="ctrTitle"/>
          </p:nvPr>
        </p:nvSpPr>
        <p:spPr>
          <a:xfrm>
            <a:off x="471055" y="1122362"/>
            <a:ext cx="11277600" cy="2840037"/>
          </a:xfrm>
        </p:spPr>
        <p:txBody>
          <a:bodyPr>
            <a:normAutofit/>
          </a:bodyPr>
          <a:lstStyle/>
          <a:p>
            <a:r>
              <a:rPr lang="en-JM" sz="3200" b="1" dirty="0"/>
              <a:t>Moses then brought his brother Aaron and his sons, and washed them in the laver. He clothed them with the sacred robes in which they were to minister in the sanctuary. Fol­lowing this part of the ceremony—</a:t>
            </a:r>
            <a:br>
              <a:rPr lang="en-JM" sz="3200" dirty="0"/>
            </a:br>
            <a:endParaRPr lang="en-JM" sz="3200" dirty="0"/>
          </a:p>
        </p:txBody>
      </p:sp>
      <p:sp>
        <p:nvSpPr>
          <p:cNvPr id="8" name="Subtitle 7">
            <a:extLst>
              <a:ext uri="{FF2B5EF4-FFF2-40B4-BE49-F238E27FC236}">
                <a16:creationId xmlns:a16="http://schemas.microsoft.com/office/drawing/2014/main" id="{7D2DF01E-3DE1-4B5C-8508-FB408723841B}"/>
              </a:ext>
            </a:extLst>
          </p:cNvPr>
          <p:cNvSpPr>
            <a:spLocks noGrp="1"/>
          </p:cNvSpPr>
          <p:nvPr>
            <p:ph type="subTitle" idx="1"/>
          </p:nvPr>
        </p:nvSpPr>
        <p:spPr>
          <a:xfrm>
            <a:off x="471055" y="4109417"/>
            <a:ext cx="11277600" cy="2263672"/>
          </a:xfrm>
        </p:spPr>
        <p:txBody>
          <a:bodyPr>
            <a:normAutofit fontScale="92500"/>
          </a:bodyPr>
          <a:lstStyle/>
          <a:p>
            <a:r>
              <a:rPr lang="en-JM" sz="3200" b="1" dirty="0">
                <a:solidFill>
                  <a:schemeClr val="accent1"/>
                </a:solidFill>
              </a:rPr>
              <a:t>"Moses took the anointing oil, and anointed the tabernacle and all that was therein, and sanctified them. And he sprinkled thereof upon the altar seven times, and anointed the altar and all his vessels, . . . </a:t>
            </a:r>
            <a:r>
              <a:rPr lang="en-JM" sz="3200" b="1" i="1" dirty="0">
                <a:solidFill>
                  <a:schemeClr val="accent1"/>
                </a:solidFill>
              </a:rPr>
              <a:t>to </a:t>
            </a:r>
            <a:r>
              <a:rPr lang="en-JM" sz="3200" b="1" dirty="0">
                <a:solidFill>
                  <a:schemeClr val="accent1"/>
                </a:solidFill>
              </a:rPr>
              <a:t>sanctify them. And he poured of the anointing oil upon Aaron's head, and anointed him, to sanctify him.”  </a:t>
            </a:r>
            <a:r>
              <a:rPr lang="en-JM" sz="3200" b="1" dirty="0">
                <a:solidFill>
                  <a:srgbClr val="FF0000"/>
                </a:solidFill>
              </a:rPr>
              <a:t>Leviticus 8:10-12</a:t>
            </a:r>
            <a:r>
              <a:rPr lang="en-JM" sz="3200" b="1" dirty="0">
                <a:solidFill>
                  <a:schemeClr val="accent1"/>
                </a:solidFill>
              </a:rPr>
              <a:t>.</a:t>
            </a:r>
          </a:p>
          <a:p>
            <a:endParaRPr lang="en-JM" sz="2200" dirty="0">
              <a:solidFill>
                <a:schemeClr val="accent1"/>
              </a:solidFill>
            </a:endParaRPr>
          </a:p>
        </p:txBody>
      </p:sp>
      <p:cxnSp>
        <p:nvCxnSpPr>
          <p:cNvPr id="19" name="Straight Connector 16">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62258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6" name="Title 5">
            <a:extLst>
              <a:ext uri="{FF2B5EF4-FFF2-40B4-BE49-F238E27FC236}">
                <a16:creationId xmlns:a16="http://schemas.microsoft.com/office/drawing/2014/main" id="{C5340D5E-FB9B-4574-B03F-046B7D8D9ECB}"/>
              </a:ext>
            </a:extLst>
          </p:cNvPr>
          <p:cNvSpPr>
            <a:spLocks noGrp="1"/>
          </p:cNvSpPr>
          <p:nvPr>
            <p:ph type="title"/>
          </p:nvPr>
        </p:nvSpPr>
        <p:spPr>
          <a:xfrm>
            <a:off x="152399" y="318654"/>
            <a:ext cx="11859491" cy="4502727"/>
          </a:xfrm>
        </p:spPr>
        <p:txBody>
          <a:bodyPr vert="horz" lIns="91440" tIns="45720" rIns="91440" bIns="45720" rtlCol="0" anchor="ctr">
            <a:normAutofit fontScale="90000"/>
          </a:bodyPr>
          <a:lstStyle/>
          <a:p>
            <a:r>
              <a:rPr lang="en-US" sz="3600" b="1" kern="1200" dirty="0">
                <a:latin typeface="+mj-lt"/>
                <a:ea typeface="+mj-ea"/>
                <a:cs typeface="+mj-cs"/>
              </a:rPr>
              <a:t>Aaron's sons also were to be anointed with this holy oil. The Scripture says:</a:t>
            </a:r>
            <a:br>
              <a:rPr lang="en-US" sz="3600" b="1" kern="1200" dirty="0">
                <a:solidFill>
                  <a:srgbClr val="FFFFFF"/>
                </a:solidFill>
                <a:latin typeface="+mj-lt"/>
                <a:ea typeface="+mj-ea"/>
                <a:cs typeface="+mj-cs"/>
              </a:rPr>
            </a:br>
            <a:br>
              <a:rPr lang="en-US" sz="3600" b="1" kern="1200" dirty="0">
                <a:solidFill>
                  <a:srgbClr val="FFFFFF"/>
                </a:solidFill>
                <a:latin typeface="+mj-lt"/>
                <a:ea typeface="+mj-ea"/>
                <a:cs typeface="+mj-cs"/>
              </a:rPr>
            </a:br>
            <a:r>
              <a:rPr lang="en-US" sz="3600" b="1" kern="1200" dirty="0">
                <a:solidFill>
                  <a:srgbClr val="FFFFFF"/>
                </a:solidFill>
                <a:latin typeface="+mj-lt"/>
                <a:ea typeface="+mj-ea"/>
                <a:cs typeface="+mj-cs"/>
              </a:rPr>
              <a:t>"Thou shalt put upon Aaron the holy garments, and anoint him, and sanctify him ; that he may min­ister unto Me in the priest's office. And thou shalt bring his sons and clothe them with coats : and thou shalt anoint them, as thou didst anoint their father, that they may minister unto Me in the priest's office: for their anointing shall surely be an everlasting priesthood throughout their generations." </a:t>
            </a:r>
            <a:r>
              <a:rPr lang="en-US" sz="3600" b="1" u="sng" kern="1200" dirty="0">
                <a:solidFill>
                  <a:srgbClr val="FFFFFF"/>
                </a:solidFill>
                <a:latin typeface="+mj-lt"/>
                <a:ea typeface="+mj-ea"/>
                <a:cs typeface="+mj-cs"/>
                <a:hlinkClick r:id="rId3"/>
              </a:rPr>
              <a:t>Ex. 40: 13-15</a:t>
            </a:r>
            <a:r>
              <a:rPr lang="en-US" sz="3600" b="1" kern="1200" dirty="0">
                <a:solidFill>
                  <a:srgbClr val="FFFFFF"/>
                </a:solidFill>
                <a:latin typeface="+mj-lt"/>
                <a:ea typeface="+mj-ea"/>
                <a:cs typeface="+mj-cs"/>
              </a:rPr>
              <a:t>.</a:t>
            </a:r>
            <a:br>
              <a:rPr lang="en-US" sz="2100" b="1" kern="1200" dirty="0">
                <a:solidFill>
                  <a:srgbClr val="FFFFFF"/>
                </a:solidFill>
                <a:latin typeface="+mj-lt"/>
                <a:ea typeface="+mj-ea"/>
                <a:cs typeface="+mj-cs"/>
              </a:rPr>
            </a:br>
            <a:endParaRPr lang="en-US" sz="2100" b="1" kern="1200" dirty="0">
              <a:solidFill>
                <a:srgbClr val="FFFFFF"/>
              </a:solidFill>
              <a:latin typeface="+mj-lt"/>
              <a:ea typeface="+mj-ea"/>
              <a:cs typeface="+mj-cs"/>
            </a:endParaRPr>
          </a:p>
        </p:txBody>
      </p:sp>
    </p:spTree>
    <p:extLst>
      <p:ext uri="{BB962C8B-B14F-4D97-AF65-F5344CB8AC3E}">
        <p14:creationId xmlns:p14="http://schemas.microsoft.com/office/powerpoint/2010/main" val="354305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D5AE11-A999-4306-8540-7625E98E0D54}"/>
              </a:ext>
            </a:extLst>
          </p:cNvPr>
          <p:cNvSpPr>
            <a:spLocks noGrp="1"/>
          </p:cNvSpPr>
          <p:nvPr>
            <p:ph type="title"/>
          </p:nvPr>
        </p:nvSpPr>
        <p:spPr>
          <a:xfrm>
            <a:off x="1120624" y="1122807"/>
            <a:ext cx="9954443" cy="4297680"/>
          </a:xfrm>
          <a:noFill/>
          <a:ln>
            <a:noFill/>
          </a:ln>
        </p:spPr>
        <p:txBody>
          <a:bodyPr>
            <a:normAutofit/>
          </a:bodyPr>
          <a:lstStyle/>
          <a:p>
            <a:pPr algn="ctr"/>
            <a:br>
              <a:rPr lang="en-JM" sz="3800" dirty="0">
                <a:solidFill>
                  <a:srgbClr val="FFFFFF"/>
                </a:solidFill>
              </a:rPr>
            </a:br>
            <a:r>
              <a:rPr lang="en-JM" sz="3800" b="1" dirty="0">
                <a:solidFill>
                  <a:srgbClr val="FFFFFF"/>
                </a:solidFill>
              </a:rPr>
              <a:t>The Scripture says regarding the thorough­ness with which this anointing with the holy oil was actually performed: "Behold, how good and how pleasant it is for brethren to dwell together in unity ! </a:t>
            </a:r>
            <a:r>
              <a:rPr lang="en-JM" sz="3800" b="1" dirty="0">
                <a:solidFill>
                  <a:srgbClr val="FFC000"/>
                </a:solidFill>
                <a:effectLst>
                  <a:outerShdw blurRad="38100" dist="38100" dir="2700000" algn="tl">
                    <a:srgbClr val="000000">
                      <a:alpha val="43137"/>
                    </a:srgbClr>
                  </a:outerShdw>
                </a:effectLst>
              </a:rPr>
              <a:t>It is like the precious oint­ment upon the head, that ran down upon the beard, even Aaron's beard: that went down to the skirts of his garments</a:t>
            </a:r>
            <a:r>
              <a:rPr lang="en-JM" sz="3800" b="1" dirty="0">
                <a:solidFill>
                  <a:srgbClr val="FFFFFF"/>
                </a:solidFill>
              </a:rPr>
              <a:t>." </a:t>
            </a:r>
            <a:r>
              <a:rPr lang="en-JM" sz="3800" b="1" dirty="0">
                <a:solidFill>
                  <a:srgbClr val="FF0000"/>
                </a:solidFill>
              </a:rPr>
              <a:t>Ps, 133:2</a:t>
            </a:r>
            <a:r>
              <a:rPr lang="en-JM" sz="3800" b="1" dirty="0">
                <a:solidFill>
                  <a:srgbClr val="FFFFFF"/>
                </a:solidFill>
              </a:rPr>
              <a:t>.</a:t>
            </a:r>
            <a:endParaRPr lang="en-JM" sz="3800" dirty="0">
              <a:solidFill>
                <a:srgbClr val="FFFFFF"/>
              </a:solidFill>
            </a:endParaRPr>
          </a:p>
        </p:txBody>
      </p:sp>
    </p:spTree>
    <p:extLst>
      <p:ext uri="{BB962C8B-B14F-4D97-AF65-F5344CB8AC3E}">
        <p14:creationId xmlns:p14="http://schemas.microsoft.com/office/powerpoint/2010/main" val="4193117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0DAED3-F67A-43E3-AE11-D34DF8087D5D}"/>
              </a:ext>
            </a:extLst>
          </p:cNvPr>
          <p:cNvSpPr>
            <a:spLocks noGrp="1"/>
          </p:cNvSpPr>
          <p:nvPr>
            <p:ph type="title"/>
          </p:nvPr>
        </p:nvSpPr>
        <p:spPr>
          <a:xfrm>
            <a:off x="1120624" y="1122807"/>
            <a:ext cx="9954443" cy="4297680"/>
          </a:xfrm>
          <a:noFill/>
          <a:ln>
            <a:noFill/>
          </a:ln>
        </p:spPr>
        <p:txBody>
          <a:bodyPr>
            <a:normAutofit/>
          </a:bodyPr>
          <a:lstStyle/>
          <a:p>
            <a:pPr algn="ctr"/>
            <a:r>
              <a:rPr lang="en-JM" sz="3300" b="1" dirty="0">
                <a:solidFill>
                  <a:srgbClr val="FFFFFF"/>
                </a:solidFill>
              </a:rPr>
              <a:t>It was a most complete service which Moses performed upon his brother when he anointed him with 'the holy oil, in order that Aaron might be consecrated to the sacred and solemn work which was committed to him as the high priest of the earthly sanctuary. This holy oil was used for the purpose of dedicating the sanctuary and its vessels of service, as well as for the consecration of the priests to their ministry.</a:t>
            </a:r>
            <a:br>
              <a:rPr lang="en-JM" sz="3300" dirty="0">
                <a:solidFill>
                  <a:srgbClr val="FFFFFF"/>
                </a:solidFill>
              </a:rPr>
            </a:br>
            <a:endParaRPr lang="en-JM" sz="3300" dirty="0">
              <a:solidFill>
                <a:srgbClr val="FFFFFF"/>
              </a:solidFill>
            </a:endParaRPr>
          </a:p>
        </p:txBody>
      </p:sp>
    </p:spTree>
    <p:extLst>
      <p:ext uri="{BB962C8B-B14F-4D97-AF65-F5344CB8AC3E}">
        <p14:creationId xmlns:p14="http://schemas.microsoft.com/office/powerpoint/2010/main" val="1425259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625D81-E784-4BDC-83D7-0EE9789B7DC2}"/>
              </a:ext>
            </a:extLst>
          </p:cNvPr>
          <p:cNvSpPr>
            <a:spLocks noGrp="1"/>
          </p:cNvSpPr>
          <p:nvPr>
            <p:ph type="title"/>
          </p:nvPr>
        </p:nvSpPr>
        <p:spPr>
          <a:xfrm>
            <a:off x="1120624" y="1122807"/>
            <a:ext cx="9954443" cy="4297680"/>
          </a:xfrm>
          <a:noFill/>
          <a:ln>
            <a:noFill/>
          </a:ln>
        </p:spPr>
        <p:txBody>
          <a:bodyPr>
            <a:normAutofit/>
          </a:bodyPr>
          <a:lstStyle/>
          <a:p>
            <a:pPr algn="ctr"/>
            <a:r>
              <a:rPr lang="en-JM" sz="3800" b="1" dirty="0">
                <a:solidFill>
                  <a:srgbClr val="FFFFFF"/>
                </a:solidFill>
              </a:rPr>
              <a:t>This inaugural and consecration service lasted seven days, as will be seen from the following scripture: "</a:t>
            </a:r>
            <a:r>
              <a:rPr lang="en-JM" sz="3800" b="1" dirty="0">
                <a:solidFill>
                  <a:schemeClr val="tx1">
                    <a:lumMod val="95000"/>
                    <a:lumOff val="5000"/>
                  </a:schemeClr>
                </a:solidFill>
              </a:rPr>
              <a:t>Ye shall not go out of the door of the tabernacle of the congregation in </a:t>
            </a:r>
            <a:r>
              <a:rPr lang="en-JM" sz="3800" b="1" dirty="0">
                <a:solidFill>
                  <a:srgbClr val="FF0000"/>
                </a:solidFill>
              </a:rPr>
              <a:t>seven days</a:t>
            </a:r>
            <a:r>
              <a:rPr lang="en-JM" sz="3800" b="1" dirty="0">
                <a:solidFill>
                  <a:schemeClr val="tx1">
                    <a:lumMod val="95000"/>
                    <a:lumOff val="5000"/>
                  </a:schemeClr>
                </a:solidFill>
              </a:rPr>
              <a:t>, until the days of your consecra­tion be at an end: for </a:t>
            </a:r>
            <a:r>
              <a:rPr lang="en-JM" sz="3800" b="1" dirty="0">
                <a:solidFill>
                  <a:srgbClr val="FF0000"/>
                </a:solidFill>
              </a:rPr>
              <a:t>seven days </a:t>
            </a:r>
            <a:r>
              <a:rPr lang="en-JM" sz="3800" b="1" dirty="0">
                <a:solidFill>
                  <a:schemeClr val="tx1">
                    <a:lumMod val="95000"/>
                    <a:lumOff val="5000"/>
                  </a:schemeClr>
                </a:solidFill>
              </a:rPr>
              <a:t>shall he consecrate you</a:t>
            </a:r>
            <a:r>
              <a:rPr lang="en-JM" sz="3800" b="1" dirty="0">
                <a:solidFill>
                  <a:srgbClr val="FFFFFF"/>
                </a:solidFill>
              </a:rPr>
              <a:t>." </a:t>
            </a:r>
            <a:r>
              <a:rPr lang="en-JM" sz="3800" b="1" u="sng" dirty="0">
                <a:solidFill>
                  <a:srgbClr val="FF0000"/>
                </a:solidFill>
                <a:hlinkClick r:id="rId2">
                  <a:extLst>
                    <a:ext uri="{A12FA001-AC4F-418D-AE19-62706E023703}">
                      <ahyp:hlinkClr xmlns:ahyp="http://schemas.microsoft.com/office/drawing/2018/hyperlinkcolor" val="tx"/>
                    </a:ext>
                  </a:extLst>
                </a:hlinkClick>
              </a:rPr>
              <a:t>Lev. 8:33</a:t>
            </a:r>
            <a:r>
              <a:rPr lang="en-JM" sz="3800" b="1" dirty="0">
                <a:solidFill>
                  <a:srgbClr val="FFFFFF"/>
                </a:solidFill>
              </a:rPr>
              <a:t>.</a:t>
            </a:r>
            <a:br>
              <a:rPr lang="en-JM" sz="3800" dirty="0">
                <a:solidFill>
                  <a:srgbClr val="FFFFFF"/>
                </a:solidFill>
              </a:rPr>
            </a:br>
            <a:endParaRPr lang="en-JM" sz="3800" dirty="0">
              <a:solidFill>
                <a:srgbClr val="FFFFFF"/>
              </a:solidFill>
            </a:endParaRPr>
          </a:p>
        </p:txBody>
      </p:sp>
    </p:spTree>
    <p:extLst>
      <p:ext uri="{BB962C8B-B14F-4D97-AF65-F5344CB8AC3E}">
        <p14:creationId xmlns:p14="http://schemas.microsoft.com/office/powerpoint/2010/main" val="2428107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BC69C078-5827-46B1-8D5E-8A3481746AE9}"/>
              </a:ext>
            </a:extLst>
          </p:cNvPr>
          <p:cNvSpPr>
            <a:spLocks noGrp="1"/>
          </p:cNvSpPr>
          <p:nvPr>
            <p:ph type="title"/>
          </p:nvPr>
        </p:nvSpPr>
        <p:spPr>
          <a:xfrm>
            <a:off x="138545" y="124691"/>
            <a:ext cx="11873345" cy="4710545"/>
          </a:xfrm>
        </p:spPr>
        <p:txBody>
          <a:bodyPr vert="horz" lIns="91440" tIns="45720" rIns="91440" bIns="45720" rtlCol="0" anchor="ctr">
            <a:normAutofit/>
          </a:bodyPr>
          <a:lstStyle/>
          <a:p>
            <a:r>
              <a:rPr lang="en-US" sz="3600" b="1" kern="1200" dirty="0">
                <a:solidFill>
                  <a:srgbClr val="FFFFFF"/>
                </a:solidFill>
                <a:latin typeface="+mj-lt"/>
                <a:ea typeface="+mj-ea"/>
                <a:cs typeface="+mj-cs"/>
              </a:rPr>
              <a:t>None who were to take part in the service of the sanctuary were permitted to perform any </a:t>
            </a:r>
            <a:r>
              <a:rPr lang="en-US" sz="3600" b="1" kern="1200" dirty="0" err="1">
                <a:solidFill>
                  <a:srgbClr val="FFFFFF"/>
                </a:solidFill>
                <a:latin typeface="+mj-lt"/>
                <a:ea typeface="+mj-ea"/>
                <a:cs typeface="+mj-cs"/>
              </a:rPr>
              <a:t>labour</a:t>
            </a:r>
            <a:r>
              <a:rPr lang="en-US" sz="3600" b="1" kern="1200" dirty="0">
                <a:solidFill>
                  <a:srgbClr val="FFFFFF"/>
                </a:solidFill>
                <a:latin typeface="+mj-lt"/>
                <a:ea typeface="+mj-ea"/>
                <a:cs typeface="+mj-cs"/>
              </a:rPr>
              <a:t> during this time of inauguration and consecration; </a:t>
            </a:r>
            <a:r>
              <a:rPr lang="en-US" sz="3600" b="1" dirty="0">
                <a:solidFill>
                  <a:srgbClr val="FFFFFF"/>
                </a:solidFill>
              </a:rPr>
              <a:t>for we are told in Leviticus 8, t</a:t>
            </a:r>
            <a:r>
              <a:rPr lang="en-US" sz="3600" b="1" kern="1200" dirty="0">
                <a:solidFill>
                  <a:srgbClr val="FFFFFF"/>
                </a:solidFill>
                <a:latin typeface="+mj-lt"/>
                <a:ea typeface="+mj-ea"/>
                <a:cs typeface="+mj-cs"/>
              </a:rPr>
              <a:t>herefore shall ye abide at the door of the tabernacle of the congregation day and night seven days, and keep the charge of the Lord, that ye die not: for so I am commanded</a:t>
            </a:r>
            <a:r>
              <a:rPr lang="en-US" sz="3600" b="1" dirty="0">
                <a:solidFill>
                  <a:srgbClr val="FFFFFF"/>
                </a:solidFill>
              </a:rPr>
              <a:t> (Lev 8:35)</a:t>
            </a:r>
            <a:r>
              <a:rPr lang="en-US" sz="3600" b="1" kern="1200" dirty="0">
                <a:solidFill>
                  <a:srgbClr val="FFFFFF"/>
                </a:solidFill>
                <a:latin typeface="+mj-lt"/>
                <a:ea typeface="+mj-ea"/>
                <a:cs typeface="+mj-cs"/>
              </a:rPr>
              <a:t>. </a:t>
            </a:r>
            <a:endParaRPr lang="en-US" sz="2100" kern="1200" dirty="0">
              <a:solidFill>
                <a:srgbClr val="FFFFFF"/>
              </a:solidFill>
              <a:latin typeface="+mj-lt"/>
              <a:ea typeface="+mj-ea"/>
              <a:cs typeface="+mj-cs"/>
            </a:endParaRPr>
          </a:p>
        </p:txBody>
      </p:sp>
    </p:spTree>
    <p:extLst>
      <p:ext uri="{BB962C8B-B14F-4D97-AF65-F5344CB8AC3E}">
        <p14:creationId xmlns:p14="http://schemas.microsoft.com/office/powerpoint/2010/main" val="408920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2BD48A99-A8DB-4A2C-88E5-B4F242618F55}"/>
              </a:ext>
            </a:extLst>
          </p:cNvPr>
          <p:cNvSpPr>
            <a:spLocks noGrp="1"/>
          </p:cNvSpPr>
          <p:nvPr>
            <p:ph type="title"/>
          </p:nvPr>
        </p:nvSpPr>
        <p:spPr>
          <a:xfrm>
            <a:off x="173181" y="211283"/>
            <a:ext cx="11845637" cy="4402281"/>
          </a:xfrm>
        </p:spPr>
        <p:txBody>
          <a:bodyPr vert="horz" lIns="91440" tIns="45720" rIns="91440" bIns="45720" rtlCol="0" anchor="ctr">
            <a:normAutofit/>
          </a:bodyPr>
          <a:lstStyle/>
          <a:p>
            <a:r>
              <a:rPr lang="en-US" sz="3600" b="1" kern="1200" dirty="0">
                <a:solidFill>
                  <a:srgbClr val="FFFFFF"/>
                </a:solidFill>
                <a:latin typeface="+mj-lt"/>
                <a:ea typeface="+mj-ea"/>
                <a:cs typeface="+mj-cs"/>
              </a:rPr>
              <a:t>When the week's dedication and consecra­tion service ended, the ministry of the sanc­tuary by the priesthood was officially inau­gurated. Says the Scripture:</a:t>
            </a:r>
            <a:br>
              <a:rPr lang="en-US" sz="3600" b="1" kern="1200" dirty="0">
                <a:solidFill>
                  <a:srgbClr val="FFFFFF"/>
                </a:solidFill>
                <a:latin typeface="+mj-lt"/>
                <a:ea typeface="+mj-ea"/>
                <a:cs typeface="+mj-cs"/>
              </a:rPr>
            </a:br>
            <a:r>
              <a:rPr lang="en-US" sz="3600" b="1" kern="1200" dirty="0">
                <a:solidFill>
                  <a:srgbClr val="FFFFFF"/>
                </a:solidFill>
                <a:latin typeface="+mj-lt"/>
                <a:ea typeface="+mj-ea"/>
                <a:cs typeface="+mj-cs"/>
              </a:rPr>
              <a:t>"It came to pass on the eighth day, that Moses called Aaron and his sons, and the elders of Israel; and he said unto Aaron, Take thee a young calf for a sin offering, and a ram for a burnt offering, without blemish, and offer them before the Lord." </a:t>
            </a:r>
            <a:r>
              <a:rPr lang="en-US" sz="3600" b="1" u="sng" kern="1200" dirty="0">
                <a:solidFill>
                  <a:srgbClr val="FF0000"/>
                </a:solidFill>
                <a:latin typeface="+mj-lt"/>
                <a:ea typeface="+mj-ea"/>
                <a:cs typeface="+mj-cs"/>
                <a:hlinkClick r:id="rId3">
                  <a:extLst>
                    <a:ext uri="{A12FA001-AC4F-418D-AE19-62706E023703}">
                      <ahyp:hlinkClr xmlns:ahyp="http://schemas.microsoft.com/office/drawing/2018/hyperlinkcolor" val="tx"/>
                    </a:ext>
                  </a:extLst>
                </a:hlinkClick>
              </a:rPr>
              <a:t>Lev. 9:1</a:t>
            </a:r>
            <a:r>
              <a:rPr lang="en-US" sz="3600" b="1" kern="1200" dirty="0">
                <a:solidFill>
                  <a:srgbClr val="FF0000"/>
                </a:solidFill>
                <a:latin typeface="+mj-lt"/>
                <a:ea typeface="+mj-ea"/>
                <a:cs typeface="+mj-cs"/>
              </a:rPr>
              <a:t>, </a:t>
            </a:r>
            <a:r>
              <a:rPr lang="en-US" sz="3600" b="1" u="sng" kern="1200" dirty="0">
                <a:solidFill>
                  <a:srgbClr val="FF0000"/>
                </a:solidFill>
                <a:latin typeface="+mj-lt"/>
                <a:ea typeface="+mj-ea"/>
                <a:cs typeface="+mj-cs"/>
                <a:hlinkClick r:id="rId4">
                  <a:extLst>
                    <a:ext uri="{A12FA001-AC4F-418D-AE19-62706E023703}">
                      <ahyp:hlinkClr xmlns:ahyp="http://schemas.microsoft.com/office/drawing/2018/hyperlinkcolor" val="tx"/>
                    </a:ext>
                  </a:extLst>
                </a:hlinkClick>
              </a:rPr>
              <a:t>2</a:t>
            </a:r>
            <a:r>
              <a:rPr lang="en-US" sz="3600" b="1" kern="1200" dirty="0">
                <a:solidFill>
                  <a:srgbClr val="FFFFFF"/>
                </a:solidFill>
                <a:latin typeface="+mj-lt"/>
                <a:ea typeface="+mj-ea"/>
                <a:cs typeface="+mj-cs"/>
              </a:rPr>
              <a:t>.</a:t>
            </a:r>
            <a:br>
              <a:rPr lang="en-US" sz="2600" kern="1200" dirty="0">
                <a:solidFill>
                  <a:srgbClr val="FFFFFF"/>
                </a:solidFill>
                <a:latin typeface="+mj-lt"/>
                <a:ea typeface="+mj-ea"/>
                <a:cs typeface="+mj-cs"/>
              </a:rPr>
            </a:br>
            <a:endParaRPr lang="en-US" sz="2600" kern="1200" dirty="0">
              <a:solidFill>
                <a:srgbClr val="FFFFFF"/>
              </a:solidFill>
              <a:latin typeface="+mj-lt"/>
              <a:ea typeface="+mj-ea"/>
              <a:cs typeface="+mj-cs"/>
            </a:endParaRPr>
          </a:p>
        </p:txBody>
      </p:sp>
    </p:spTree>
    <p:extLst>
      <p:ext uri="{BB962C8B-B14F-4D97-AF65-F5344CB8AC3E}">
        <p14:creationId xmlns:p14="http://schemas.microsoft.com/office/powerpoint/2010/main" val="2815607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622BA4-E812-468D-8635-45850158A820}"/>
              </a:ext>
            </a:extLst>
          </p:cNvPr>
          <p:cNvSpPr>
            <a:spLocks noGrp="1"/>
          </p:cNvSpPr>
          <p:nvPr>
            <p:ph type="title"/>
          </p:nvPr>
        </p:nvSpPr>
        <p:spPr>
          <a:xfrm>
            <a:off x="801520" y="471055"/>
            <a:ext cx="10273547" cy="6096000"/>
          </a:xfrm>
          <a:noFill/>
          <a:ln>
            <a:noFill/>
          </a:ln>
        </p:spPr>
        <p:txBody>
          <a:bodyPr>
            <a:normAutofit/>
          </a:bodyPr>
          <a:lstStyle/>
          <a:p>
            <a:pPr algn="ctr"/>
            <a:r>
              <a:rPr lang="en-JM" sz="3600" b="1" dirty="0">
                <a:solidFill>
                  <a:srgbClr val="FFFFFF"/>
                </a:solidFill>
              </a:rPr>
              <a:t>The people responded to this command of Moses. When Aaron had offered the sacri­fices, and had blessed the people for carrying out this divine instruction, then "there came a fire out from before the Lord, and consumed upon the altar the burnt offering and the fat: which when all the people saw, they shouted, and fell on their faces." </a:t>
            </a:r>
            <a:r>
              <a:rPr lang="en-JM" sz="3600" b="1" dirty="0">
                <a:solidFill>
                  <a:srgbClr val="FF0000"/>
                </a:solidFill>
              </a:rPr>
              <a:t>Verse 24</a:t>
            </a:r>
            <a:r>
              <a:rPr lang="en-JM" sz="3600" b="1" dirty="0">
                <a:solidFill>
                  <a:srgbClr val="FFFFFF"/>
                </a:solidFill>
              </a:rPr>
              <a:t>. </a:t>
            </a:r>
            <a:r>
              <a:rPr lang="en-JM" sz="3600" b="1" dirty="0">
                <a:solidFill>
                  <a:srgbClr val="FFC000"/>
                </a:solidFill>
              </a:rPr>
              <a:t>The sanctuary service could now be entered upon according to the will and command of God</a:t>
            </a:r>
            <a:r>
              <a:rPr lang="en-JM" sz="3600" b="1" dirty="0">
                <a:solidFill>
                  <a:srgbClr val="FFFFFF"/>
                </a:solidFill>
              </a:rPr>
              <a:t>.</a:t>
            </a:r>
            <a:br>
              <a:rPr lang="en-JM" sz="3300" dirty="0">
                <a:solidFill>
                  <a:srgbClr val="FFFFFF"/>
                </a:solidFill>
              </a:rPr>
            </a:br>
            <a:endParaRPr lang="en-JM" sz="3300" dirty="0">
              <a:solidFill>
                <a:srgbClr val="FFFFFF"/>
              </a:solidFill>
            </a:endParaRPr>
          </a:p>
        </p:txBody>
      </p:sp>
    </p:spTree>
    <p:extLst>
      <p:ext uri="{BB962C8B-B14F-4D97-AF65-F5344CB8AC3E}">
        <p14:creationId xmlns:p14="http://schemas.microsoft.com/office/powerpoint/2010/main" val="2194203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8A740BC-A0AA-45E0-B899-2AE9C6FE1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1" y="-2"/>
            <a:ext cx="6278879" cy="6858002"/>
          </a:xfrm>
          <a:custGeom>
            <a:avLst/>
            <a:gdLst>
              <a:gd name="connsiteX0" fmla="*/ 45572 w 6278879"/>
              <a:gd name="connsiteY0" fmla="*/ 0 h 6858002"/>
              <a:gd name="connsiteX1" fmla="*/ 6278879 w 6278879"/>
              <a:gd name="connsiteY1" fmla="*/ 0 h 6858002"/>
              <a:gd name="connsiteX2" fmla="*/ 6278879 w 6278879"/>
              <a:gd name="connsiteY2" fmla="*/ 6858002 h 6858002"/>
              <a:gd name="connsiteX3" fmla="*/ 3292308 w 6278879"/>
              <a:gd name="connsiteY3" fmla="*/ 6858002 h 6858002"/>
              <a:gd name="connsiteX4" fmla="*/ 3181526 w 6278879"/>
              <a:gd name="connsiteY4" fmla="*/ 6786982 h 6858002"/>
              <a:gd name="connsiteX5" fmla="*/ 0 w 6278879"/>
              <a:gd name="connsiteY5" fmla="*/ 803254 h 6858002"/>
              <a:gd name="connsiteX6" fmla="*/ 37255 w 6278879"/>
              <a:gd name="connsiteY6" fmla="*/ 6544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9" h="6858002">
                <a:moveTo>
                  <a:pt x="45572" y="0"/>
                </a:moveTo>
                <a:lnTo>
                  <a:pt x="6278879" y="0"/>
                </a:lnTo>
                <a:lnTo>
                  <a:pt x="6278879" y="6858002"/>
                </a:lnTo>
                <a:lnTo>
                  <a:pt x="3292308" y="6858002"/>
                </a:lnTo>
                <a:lnTo>
                  <a:pt x="3181526" y="6786982"/>
                </a:lnTo>
                <a:cubicBezTo>
                  <a:pt x="1262021" y="5490191"/>
                  <a:pt x="0" y="3294103"/>
                  <a:pt x="0" y="803254"/>
                </a:cubicBezTo>
                <a:cubicBezTo>
                  <a:pt x="0" y="554169"/>
                  <a:pt x="12620" y="308032"/>
                  <a:pt x="37255" y="65447"/>
                </a:cubicBez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8C621D20-883D-4F95-8180-0106A671F19A}"/>
              </a:ext>
            </a:extLst>
          </p:cNvPr>
          <p:cNvSpPr>
            <a:spLocks noGrp="1"/>
          </p:cNvSpPr>
          <p:nvPr>
            <p:ph type="title"/>
          </p:nvPr>
        </p:nvSpPr>
        <p:spPr>
          <a:xfrm>
            <a:off x="655320" y="365125"/>
            <a:ext cx="9013052" cy="1623312"/>
          </a:xfrm>
        </p:spPr>
        <p:txBody>
          <a:bodyPr anchor="b">
            <a:normAutofit/>
          </a:bodyPr>
          <a:lstStyle/>
          <a:p>
            <a:r>
              <a:rPr lang="en-JM" sz="4000" b="1" dirty="0">
                <a:effectLst>
                  <a:glow rad="139700">
                    <a:schemeClr val="accent2">
                      <a:satMod val="175000"/>
                      <a:alpha val="40000"/>
                    </a:schemeClr>
                  </a:glow>
                  <a:reflection blurRad="6350" stA="55000" endA="300" endPos="45500" dir="5400000" sy="-100000" algn="bl" rotWithShape="0"/>
                </a:effectLst>
              </a:rPr>
              <a:t>Christ's Anointing as High Priest</a:t>
            </a:r>
            <a:br>
              <a:rPr lang="en-JM" sz="4000" dirty="0"/>
            </a:br>
            <a:endParaRPr lang="en-JM" sz="4000" dirty="0"/>
          </a:p>
        </p:txBody>
      </p:sp>
      <p:cxnSp>
        <p:nvCxnSpPr>
          <p:cNvPr id="11" name="Straight Arrow Connector 10">
            <a:extLst>
              <a:ext uri="{FF2B5EF4-FFF2-40B4-BE49-F238E27FC236}">
                <a16:creationId xmlns:a16="http://schemas.microsoft.com/office/drawing/2014/main" id="{B874EF51-C858-4BB9-97C3-D17755787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3661" y="2316480"/>
            <a:ext cx="82296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110F25FF-A42B-4157-810D-38E4C0A32F56}"/>
              </a:ext>
            </a:extLst>
          </p:cNvPr>
          <p:cNvSpPr>
            <a:spLocks noGrp="1"/>
          </p:cNvSpPr>
          <p:nvPr>
            <p:ph idx="1"/>
          </p:nvPr>
        </p:nvSpPr>
        <p:spPr>
          <a:xfrm>
            <a:off x="193964" y="2736806"/>
            <a:ext cx="11610109" cy="3645444"/>
          </a:xfrm>
        </p:spPr>
        <p:txBody>
          <a:bodyPr>
            <a:normAutofit/>
          </a:bodyPr>
          <a:lstStyle/>
          <a:p>
            <a:pPr marL="0" indent="0">
              <a:buNone/>
            </a:pPr>
            <a:r>
              <a:rPr lang="en-JM" sz="3600" b="1" dirty="0"/>
              <a:t>Before the Saviour could begin His minis­try as our high priest, the heavenly sanctuary must be dedicated and anointed. and our Lord must be consecrated to His high priesthood. That this was to take place is foretold by the word of God.</a:t>
            </a:r>
          </a:p>
          <a:p>
            <a:endParaRPr lang="en-JM" sz="2000" dirty="0"/>
          </a:p>
        </p:txBody>
      </p:sp>
    </p:spTree>
    <p:extLst>
      <p:ext uri="{BB962C8B-B14F-4D97-AF65-F5344CB8AC3E}">
        <p14:creationId xmlns:p14="http://schemas.microsoft.com/office/powerpoint/2010/main" val="1028190879"/>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person, sky, man, indoor&#10;&#10;Description automatically generated">
            <a:extLst>
              <a:ext uri="{FF2B5EF4-FFF2-40B4-BE49-F238E27FC236}">
                <a16:creationId xmlns:a16="http://schemas.microsoft.com/office/drawing/2014/main" id="{7F06334B-02C0-4CB2-9B9C-C220BCF4EFAB}"/>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t="6719" b="8695"/>
          <a:stretch/>
        </p:blipFill>
        <p:spPr>
          <a:xfrm>
            <a:off x="20" y="1"/>
            <a:ext cx="12191980" cy="6857999"/>
          </a:xfrm>
          <a:prstGeom prst="rect">
            <a:avLst/>
          </a:prstGeom>
        </p:spPr>
      </p:pic>
      <p:sp>
        <p:nvSpPr>
          <p:cNvPr id="4" name="Title 3">
            <a:extLst>
              <a:ext uri="{FF2B5EF4-FFF2-40B4-BE49-F238E27FC236}">
                <a16:creationId xmlns:a16="http://schemas.microsoft.com/office/drawing/2014/main" id="{25F94B6A-FD7C-44F0-9379-D9A2A0536989}"/>
              </a:ext>
            </a:extLst>
          </p:cNvPr>
          <p:cNvSpPr>
            <a:spLocks noGrp="1"/>
          </p:cNvSpPr>
          <p:nvPr>
            <p:ph type="title"/>
          </p:nvPr>
        </p:nvSpPr>
        <p:spPr>
          <a:xfrm>
            <a:off x="180109" y="263236"/>
            <a:ext cx="11762509" cy="5985164"/>
          </a:xfrm>
        </p:spPr>
        <p:txBody>
          <a:bodyPr vert="horz" lIns="91440" tIns="45720" rIns="91440" bIns="45720" rtlCol="0" anchor="b">
            <a:normAutofit/>
          </a:bodyPr>
          <a:lstStyle/>
          <a:p>
            <a:pPr algn="ctr"/>
            <a:r>
              <a:rPr lang="en-US" sz="3600" b="1" dirty="0">
                <a:solidFill>
                  <a:srgbClr val="FFFFFF"/>
                </a:solidFill>
              </a:rPr>
              <a:t>When the angel Gabriel explained to Daniel the significance of the first part of the </a:t>
            </a:r>
            <a:r>
              <a:rPr lang="en-US" sz="3600" b="1" dirty="0">
                <a:solidFill>
                  <a:srgbClr val="FFC000"/>
                </a:solidFill>
              </a:rPr>
              <a:t>twenty­ three-hundred-day prophecy </a:t>
            </a:r>
            <a:r>
              <a:rPr lang="en-US" sz="3600" b="1" dirty="0">
                <a:solidFill>
                  <a:srgbClr val="FFFFFF"/>
                </a:solidFill>
              </a:rPr>
              <a:t>by telling him that </a:t>
            </a:r>
            <a:r>
              <a:rPr lang="en-US" sz="3600" b="1" dirty="0">
                <a:solidFill>
                  <a:srgbClr val="FFC000"/>
                </a:solidFill>
              </a:rPr>
              <a:t>seventy weeks </a:t>
            </a:r>
            <a:r>
              <a:rPr lang="en-US" sz="3600" b="1" dirty="0">
                <a:solidFill>
                  <a:srgbClr val="FFFFFF"/>
                </a:solidFill>
              </a:rPr>
              <a:t>were determined upon his people and upon the Holy City, the celestial messenger said that the last thing to occur be­fore the end of the </a:t>
            </a:r>
            <a:r>
              <a:rPr lang="en-US" sz="3600" b="1" dirty="0">
                <a:solidFill>
                  <a:srgbClr val="FFC000"/>
                </a:solidFill>
              </a:rPr>
              <a:t>seventy-times-seven</a:t>
            </a:r>
            <a:r>
              <a:rPr lang="en-US" sz="3600" b="1" dirty="0">
                <a:solidFill>
                  <a:srgbClr val="FFFFFF"/>
                </a:solidFill>
              </a:rPr>
              <a:t> period was the </a:t>
            </a:r>
            <a:r>
              <a:rPr lang="en-US" sz="3600" b="1" dirty="0">
                <a:solidFill>
                  <a:srgbClr val="FFC000"/>
                </a:solidFill>
              </a:rPr>
              <a:t>anointing of the </a:t>
            </a:r>
            <a:r>
              <a:rPr lang="en-US" sz="3600" b="1" dirty="0">
                <a:solidFill>
                  <a:srgbClr val="FFFFFF"/>
                </a:solidFill>
              </a:rPr>
              <a:t>"</a:t>
            </a:r>
            <a:r>
              <a:rPr lang="en-US" sz="3600" b="1" dirty="0">
                <a:solidFill>
                  <a:schemeClr val="bg1"/>
                </a:solidFill>
                <a:effectLst>
                  <a:outerShdw blurRad="38100" dist="38100" dir="2700000" algn="tl">
                    <a:srgbClr val="000000">
                      <a:alpha val="43137"/>
                    </a:srgbClr>
                  </a:outerShdw>
                </a:effectLst>
              </a:rPr>
              <a:t>most holy</a:t>
            </a:r>
            <a:r>
              <a:rPr lang="en-US" sz="3600" b="1" dirty="0">
                <a:solidFill>
                  <a:srgbClr val="FFFFFF"/>
                </a:solidFill>
              </a:rPr>
              <a:t>." These words, "</a:t>
            </a:r>
            <a:r>
              <a:rPr lang="en-US" sz="3600" b="1" dirty="0">
                <a:solidFill>
                  <a:schemeClr val="bg1"/>
                </a:solidFill>
                <a:effectLst>
                  <a:outerShdw blurRad="38100" dist="38100" dir="2700000" algn="tl">
                    <a:srgbClr val="000000">
                      <a:alpha val="43137"/>
                    </a:srgbClr>
                  </a:outerShdw>
                </a:effectLst>
              </a:rPr>
              <a:t>most holy</a:t>
            </a:r>
            <a:r>
              <a:rPr lang="en-US" sz="3600" b="1" dirty="0">
                <a:solidFill>
                  <a:srgbClr val="FFFFFF"/>
                </a:solidFill>
              </a:rPr>
              <a:t>," in the Hebrew are </a:t>
            </a:r>
            <a:r>
              <a:rPr lang="en-US" sz="3600" b="1" i="1" dirty="0">
                <a:solidFill>
                  <a:srgbClr val="FF0000"/>
                </a:solidFill>
              </a:rPr>
              <a:t>Ko-</a:t>
            </a:r>
            <a:r>
              <a:rPr lang="en-US" sz="3600" b="1" i="1" dirty="0" err="1">
                <a:solidFill>
                  <a:srgbClr val="FF0000"/>
                </a:solidFill>
              </a:rPr>
              <a:t>desh</a:t>
            </a:r>
            <a:r>
              <a:rPr lang="en-US" sz="3600" b="1" i="1" dirty="0">
                <a:solidFill>
                  <a:srgbClr val="FF0000"/>
                </a:solidFill>
              </a:rPr>
              <a:t> Ko-do-shim</a:t>
            </a:r>
            <a:r>
              <a:rPr lang="en-US" sz="3600" b="1" i="1" dirty="0">
                <a:solidFill>
                  <a:srgbClr val="FFFFFF"/>
                </a:solidFill>
              </a:rPr>
              <a:t> </a:t>
            </a:r>
            <a:r>
              <a:rPr lang="en-US" sz="3600" b="1" u="sng" dirty="0">
                <a:solidFill>
                  <a:srgbClr val="002060"/>
                </a:solidFill>
                <a:hlinkClick r:id="rId4">
                  <a:extLst>
                    <a:ext uri="{A12FA001-AC4F-418D-AE19-62706E023703}">
                      <ahyp:hlinkClr xmlns:ahyp="http://schemas.microsoft.com/office/drawing/2018/hyperlinkcolor" val="tx"/>
                    </a:ext>
                  </a:extLst>
                </a:hlinkClick>
              </a:rPr>
              <a:t>Dan. 9:24</a:t>
            </a:r>
            <a:r>
              <a:rPr lang="en-US" sz="3600" b="1" dirty="0">
                <a:solidFill>
                  <a:srgbClr val="FFFFFF"/>
                </a:solidFill>
              </a:rPr>
              <a:t>. The words </a:t>
            </a:r>
            <a:r>
              <a:rPr lang="en-US" sz="3600" b="1" i="1" dirty="0">
                <a:solidFill>
                  <a:srgbClr val="FF0000"/>
                </a:solidFill>
              </a:rPr>
              <a:t>Ko-</a:t>
            </a:r>
            <a:r>
              <a:rPr lang="en-US" sz="3600" b="1" i="1" dirty="0" err="1">
                <a:solidFill>
                  <a:srgbClr val="FF0000"/>
                </a:solidFill>
              </a:rPr>
              <a:t>desh</a:t>
            </a:r>
            <a:r>
              <a:rPr lang="en-US" sz="3600" b="1" i="1" dirty="0">
                <a:solidFill>
                  <a:srgbClr val="FF0000"/>
                </a:solidFill>
              </a:rPr>
              <a:t> Ko-do-shim </a:t>
            </a:r>
            <a:r>
              <a:rPr lang="en-US" sz="3600" b="1" dirty="0">
                <a:solidFill>
                  <a:srgbClr val="FFFFFF"/>
                </a:solidFill>
              </a:rPr>
              <a:t>are not applied to people. They are invariably applied to objects, and particu­larly to the inner apartment of the sanctuary. ( </a:t>
            </a:r>
            <a:r>
              <a:rPr lang="en-US" sz="3600" b="1" u="sng" dirty="0">
                <a:solidFill>
                  <a:srgbClr val="002060"/>
                </a:solidFill>
                <a:hlinkClick r:id="rId5">
                  <a:extLst>
                    <a:ext uri="{A12FA001-AC4F-418D-AE19-62706E023703}">
                      <ahyp:hlinkClr xmlns:ahyp="http://schemas.microsoft.com/office/drawing/2018/hyperlinkcolor" val="tx"/>
                    </a:ext>
                  </a:extLst>
                </a:hlinkClick>
              </a:rPr>
              <a:t>Ex. 26:33</a:t>
            </a:r>
            <a:r>
              <a:rPr lang="en-US" sz="3600" b="1" dirty="0">
                <a:solidFill>
                  <a:srgbClr val="FFFFFF"/>
                </a:solidFill>
              </a:rPr>
              <a:t>, </a:t>
            </a:r>
            <a:r>
              <a:rPr lang="en-US" sz="3600" b="1" u="sng" dirty="0">
                <a:solidFill>
                  <a:srgbClr val="002060"/>
                </a:solidFill>
                <a:hlinkClick r:id="rId6">
                  <a:extLst>
                    <a:ext uri="{A12FA001-AC4F-418D-AE19-62706E023703}">
                      <ahyp:hlinkClr xmlns:ahyp="http://schemas.microsoft.com/office/drawing/2018/hyperlinkcolor" val="tx"/>
                    </a:ext>
                  </a:extLst>
                </a:hlinkClick>
              </a:rPr>
              <a:t>34</a:t>
            </a:r>
            <a:r>
              <a:rPr lang="en-US" sz="3600" b="1" dirty="0">
                <a:solidFill>
                  <a:srgbClr val="FFFFFF"/>
                </a:solidFill>
              </a:rPr>
              <a:t>.)</a:t>
            </a:r>
            <a:br>
              <a:rPr lang="en-US" sz="2000" b="1" dirty="0">
                <a:solidFill>
                  <a:srgbClr val="FFFFFF"/>
                </a:solidFill>
              </a:rPr>
            </a:br>
            <a:endParaRPr lang="en-US" sz="2000" b="1" dirty="0">
              <a:solidFill>
                <a:srgbClr val="FFFFFF"/>
              </a:solidFill>
            </a:endParaRPr>
          </a:p>
        </p:txBody>
      </p:sp>
    </p:spTree>
    <p:extLst>
      <p:ext uri="{BB962C8B-B14F-4D97-AF65-F5344CB8AC3E}">
        <p14:creationId xmlns:p14="http://schemas.microsoft.com/office/powerpoint/2010/main" val="60715213"/>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person, sky, man, indoor&#10;&#10;Description automatically generated">
            <a:extLst>
              <a:ext uri="{FF2B5EF4-FFF2-40B4-BE49-F238E27FC236}">
                <a16:creationId xmlns:a16="http://schemas.microsoft.com/office/drawing/2014/main" id="{7F06334B-02C0-4CB2-9B9C-C220BCF4EFAB}"/>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t="6719" b="8695"/>
          <a:stretch/>
        </p:blipFill>
        <p:spPr>
          <a:xfrm>
            <a:off x="20" y="1"/>
            <a:ext cx="12191980" cy="6857999"/>
          </a:xfrm>
          <a:prstGeom prst="rect">
            <a:avLst/>
          </a:prstGeom>
        </p:spPr>
      </p:pic>
      <p:sp>
        <p:nvSpPr>
          <p:cNvPr id="2" name="TextBox 1">
            <a:extLst>
              <a:ext uri="{FF2B5EF4-FFF2-40B4-BE49-F238E27FC236}">
                <a16:creationId xmlns:a16="http://schemas.microsoft.com/office/drawing/2014/main" id="{4330349E-9107-4591-801F-6EBF8C7AB3EB}"/>
              </a:ext>
            </a:extLst>
          </p:cNvPr>
          <p:cNvSpPr txBox="1"/>
          <p:nvPr/>
        </p:nvSpPr>
        <p:spPr>
          <a:xfrm>
            <a:off x="685800" y="745958"/>
            <a:ext cx="10922000" cy="2554545"/>
          </a:xfrm>
          <a:prstGeom prst="rect">
            <a:avLst/>
          </a:prstGeom>
          <a:noFill/>
        </p:spPr>
        <p:txBody>
          <a:bodyPr wrap="square" rtlCol="0">
            <a:spAutoFit/>
          </a:bodyPr>
          <a:lstStyle/>
          <a:p>
            <a:endParaRPr lang="en-GB" sz="3200" dirty="0">
              <a:solidFill>
                <a:srgbClr val="FF0000"/>
              </a:solidFill>
            </a:endParaRPr>
          </a:p>
          <a:p>
            <a:r>
              <a:rPr lang="en-GB" sz="3200" dirty="0">
                <a:solidFill>
                  <a:srgbClr val="FF0000"/>
                </a:solidFill>
              </a:rPr>
              <a:t>Daniel 9: 24</a:t>
            </a:r>
            <a:r>
              <a:rPr lang="en-GB" sz="3200" dirty="0"/>
              <a:t>. The Hebrew is “</a:t>
            </a:r>
            <a:r>
              <a:rPr lang="he-IL" sz="3200" dirty="0"/>
              <a:t>קָֽדָשִֽׁים׃</a:t>
            </a:r>
            <a:r>
              <a:rPr lang="en-GB" sz="3200" dirty="0"/>
              <a:t>  </a:t>
            </a:r>
            <a:r>
              <a:rPr lang="he-IL" sz="3200" dirty="0"/>
              <a:t>קֹ֥דֶשׁ</a:t>
            </a:r>
            <a:r>
              <a:rPr lang="en-GB" sz="3200" dirty="0"/>
              <a:t> </a:t>
            </a:r>
            <a:r>
              <a:rPr lang="he-IL" sz="3200" dirty="0"/>
              <a:t>וְלִמְשֹׁ֖ח</a:t>
            </a:r>
            <a:r>
              <a:rPr lang="en-GB" sz="3200" dirty="0"/>
              <a:t>", which the literal translation can be seen as “</a:t>
            </a:r>
            <a:r>
              <a:rPr lang="en-GB" sz="3200" dirty="0">
                <a:solidFill>
                  <a:schemeClr val="accent4">
                    <a:lumMod val="60000"/>
                    <a:lumOff val="40000"/>
                  </a:schemeClr>
                </a:solidFill>
              </a:rPr>
              <a:t>and to anoint a Holy of Holies</a:t>
            </a:r>
            <a:r>
              <a:rPr lang="en-GB" sz="3200" dirty="0"/>
              <a:t>.” ESV, NASB, NIV, NET “</a:t>
            </a:r>
            <a:r>
              <a:rPr lang="en-GB" sz="3200" dirty="0">
                <a:solidFill>
                  <a:schemeClr val="accent1">
                    <a:lumMod val="40000"/>
                    <a:lumOff val="60000"/>
                  </a:schemeClr>
                </a:solidFill>
              </a:rPr>
              <a:t>and to anoint a most holy place.”</a:t>
            </a:r>
          </a:p>
          <a:p>
            <a:r>
              <a:rPr lang="en-GB" sz="3200" dirty="0">
                <a:solidFill>
                  <a:schemeClr val="accent1">
                    <a:lumMod val="40000"/>
                    <a:lumOff val="60000"/>
                  </a:schemeClr>
                </a:solidFill>
              </a:rPr>
              <a:t>(</a:t>
            </a:r>
            <a:r>
              <a:rPr lang="en-GB" sz="3200" dirty="0"/>
              <a:t>place is supplied</a:t>
            </a:r>
            <a:r>
              <a:rPr lang="en-GB" sz="3200" dirty="0">
                <a:solidFill>
                  <a:schemeClr val="accent1">
                    <a:lumMod val="40000"/>
                    <a:lumOff val="60000"/>
                  </a:schemeClr>
                </a:solidFill>
              </a:rPr>
              <a:t>).</a:t>
            </a:r>
            <a:endParaRPr lang="en-JM" sz="3200" dirty="0">
              <a:solidFill>
                <a:schemeClr val="accent1">
                  <a:lumMod val="40000"/>
                  <a:lumOff val="60000"/>
                </a:schemeClr>
              </a:solidFill>
            </a:endParaRPr>
          </a:p>
        </p:txBody>
      </p:sp>
    </p:spTree>
    <p:extLst>
      <p:ext uri="{BB962C8B-B14F-4D97-AF65-F5344CB8AC3E}">
        <p14:creationId xmlns:p14="http://schemas.microsoft.com/office/powerpoint/2010/main" val="1418856364"/>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2BD48A99-A8DB-4A2C-88E5-B4F242618F55}"/>
              </a:ext>
            </a:extLst>
          </p:cNvPr>
          <p:cNvSpPr>
            <a:spLocks noGrp="1"/>
          </p:cNvSpPr>
          <p:nvPr>
            <p:ph type="title"/>
          </p:nvPr>
        </p:nvSpPr>
        <p:spPr>
          <a:xfrm>
            <a:off x="173181" y="211283"/>
            <a:ext cx="11845637" cy="4402281"/>
          </a:xfrm>
        </p:spPr>
        <p:txBody>
          <a:bodyPr vert="horz" lIns="91440" tIns="45720" rIns="91440" bIns="45720" rtlCol="0" anchor="ctr">
            <a:normAutofit/>
          </a:bodyPr>
          <a:lstStyle/>
          <a:p>
            <a:r>
              <a:rPr lang="en-US" sz="3200" b="1" kern="1200" dirty="0">
                <a:solidFill>
                  <a:srgbClr val="FFFFFF"/>
                </a:solidFill>
                <a:latin typeface="+mj-lt"/>
                <a:ea typeface="+mj-ea"/>
                <a:cs typeface="+mj-cs"/>
              </a:rPr>
              <a:t>Scripture teaches that when the sanctuary and the furniture were finished and ready for service, Moses was commanded to make a holy anointing oil. </a:t>
            </a:r>
            <a:r>
              <a:rPr lang="en-US" sz="3200" b="1" kern="1200" dirty="0">
                <a:solidFill>
                  <a:srgbClr val="FF0000"/>
                </a:solidFill>
                <a:latin typeface="+mj-lt"/>
                <a:ea typeface="+mj-ea"/>
                <a:cs typeface="+mj-cs"/>
              </a:rPr>
              <a:t>Ex. 30:22-25</a:t>
            </a:r>
            <a:r>
              <a:rPr lang="en-US" sz="3200" b="1" kern="1200" dirty="0">
                <a:solidFill>
                  <a:srgbClr val="FFFFFF"/>
                </a:solidFill>
                <a:latin typeface="+mj-lt"/>
                <a:ea typeface="+mj-ea"/>
                <a:cs typeface="+mj-cs"/>
              </a:rPr>
              <a:t>. The purpose of the holy oil was to anoint the </a:t>
            </a:r>
            <a:r>
              <a:rPr lang="en-US" sz="3200" b="1" kern="1200" dirty="0">
                <a:solidFill>
                  <a:srgbClr val="FFFF00"/>
                </a:solidFill>
                <a:latin typeface="+mj-lt"/>
                <a:ea typeface="+mj-ea"/>
                <a:cs typeface="+mj-cs"/>
              </a:rPr>
              <a:t>vessels of the tabernacle</a:t>
            </a:r>
            <a:r>
              <a:rPr lang="en-US" sz="3200" b="1" kern="1200" dirty="0">
                <a:solidFill>
                  <a:srgbClr val="FFFFFF"/>
                </a:solidFill>
                <a:latin typeface="+mj-lt"/>
                <a:ea typeface="+mj-ea"/>
                <a:cs typeface="+mj-cs"/>
              </a:rPr>
              <a:t>, including the </a:t>
            </a:r>
            <a:r>
              <a:rPr lang="en-US" sz="3200" b="1" kern="1200" dirty="0">
                <a:solidFill>
                  <a:srgbClr val="FF0000"/>
                </a:solidFill>
                <a:latin typeface="+mj-lt"/>
                <a:ea typeface="+mj-ea"/>
                <a:cs typeface="+mj-cs"/>
              </a:rPr>
              <a:t>holy</a:t>
            </a:r>
            <a:r>
              <a:rPr lang="en-US" sz="3200" b="1" kern="1200" dirty="0">
                <a:solidFill>
                  <a:srgbClr val="FFFFFF"/>
                </a:solidFill>
                <a:latin typeface="+mj-lt"/>
                <a:ea typeface="+mj-ea"/>
                <a:cs typeface="+mj-cs"/>
              </a:rPr>
              <a:t> and the </a:t>
            </a:r>
            <a:r>
              <a:rPr lang="en-US" sz="3200" b="1" kern="1200" dirty="0">
                <a:solidFill>
                  <a:srgbClr val="FF0000"/>
                </a:solidFill>
                <a:latin typeface="+mj-lt"/>
                <a:ea typeface="+mj-ea"/>
                <a:cs typeface="+mj-cs"/>
              </a:rPr>
              <a:t>most holy places, </a:t>
            </a:r>
            <a:r>
              <a:rPr lang="en-US" sz="3200" b="1" kern="1200" dirty="0">
                <a:solidFill>
                  <a:schemeClr val="bg1"/>
                </a:solidFill>
                <a:latin typeface="+mj-lt"/>
                <a:ea typeface="+mj-ea"/>
                <a:cs typeface="+mj-cs"/>
              </a:rPr>
              <a:t>and for the anointing of the </a:t>
            </a:r>
            <a:r>
              <a:rPr lang="en-US" sz="3200" b="1" kern="1200" dirty="0">
                <a:solidFill>
                  <a:srgbClr val="FF0000"/>
                </a:solidFill>
                <a:latin typeface="+mj-lt"/>
                <a:ea typeface="+mj-ea"/>
                <a:cs typeface="+mj-cs"/>
              </a:rPr>
              <a:t>priests</a:t>
            </a:r>
            <a:r>
              <a:rPr lang="en-US" sz="3200" b="1" kern="1200" dirty="0">
                <a:solidFill>
                  <a:schemeClr val="bg1"/>
                </a:solidFill>
                <a:latin typeface="+mj-lt"/>
                <a:ea typeface="+mj-ea"/>
                <a:cs typeface="+mj-cs"/>
              </a:rPr>
              <a:t>. </a:t>
            </a:r>
            <a:r>
              <a:rPr lang="en-US" sz="3200" b="1" kern="1200" dirty="0">
                <a:solidFill>
                  <a:srgbClr val="FF0000"/>
                </a:solidFill>
                <a:latin typeface="+mj-lt"/>
                <a:ea typeface="+mj-ea"/>
                <a:cs typeface="+mj-cs"/>
              </a:rPr>
              <a:t>Verses 26-30</a:t>
            </a:r>
            <a:r>
              <a:rPr lang="en-US" sz="3200" b="1" kern="1200" dirty="0">
                <a:solidFill>
                  <a:schemeClr val="bg1"/>
                </a:solidFill>
                <a:latin typeface="+mj-lt"/>
                <a:ea typeface="+mj-ea"/>
                <a:cs typeface="+mj-cs"/>
              </a:rPr>
              <a:t>.</a:t>
            </a:r>
            <a:br>
              <a:rPr lang="en-US" sz="3200" b="1" kern="1200" dirty="0">
                <a:solidFill>
                  <a:schemeClr val="bg1"/>
                </a:solidFill>
                <a:latin typeface="+mj-lt"/>
                <a:ea typeface="+mj-ea"/>
                <a:cs typeface="+mj-cs"/>
              </a:rPr>
            </a:br>
            <a:br>
              <a:rPr lang="en-US" sz="3200" b="1" kern="1200" dirty="0">
                <a:solidFill>
                  <a:schemeClr val="bg1"/>
                </a:solidFill>
                <a:latin typeface="+mj-lt"/>
                <a:ea typeface="+mj-ea"/>
                <a:cs typeface="+mj-cs"/>
              </a:rPr>
            </a:br>
            <a:r>
              <a:rPr lang="en-US" sz="3200" b="1" kern="1200" dirty="0">
                <a:solidFill>
                  <a:schemeClr val="bg1"/>
                </a:solidFill>
                <a:latin typeface="+mj-lt"/>
                <a:ea typeface="+mj-ea"/>
                <a:cs typeface="+mj-cs"/>
              </a:rPr>
              <a:t>Strict command was given that this oil was not to go upon any human flesh, save only the priests’, and upon the vessels of the sanctuary. </a:t>
            </a:r>
            <a:r>
              <a:rPr lang="en-US" sz="3200" b="1" kern="1200" dirty="0">
                <a:solidFill>
                  <a:srgbClr val="FF0000"/>
                </a:solidFill>
                <a:latin typeface="+mj-lt"/>
                <a:ea typeface="+mj-ea"/>
                <a:cs typeface="+mj-cs"/>
              </a:rPr>
              <a:t>Verses 31-33</a:t>
            </a:r>
            <a:r>
              <a:rPr lang="en-US" sz="3200" b="1" kern="1200" dirty="0">
                <a:solidFill>
                  <a:schemeClr val="bg1"/>
                </a:solidFill>
                <a:latin typeface="+mj-lt"/>
                <a:ea typeface="+mj-ea"/>
                <a:cs typeface="+mj-cs"/>
              </a:rPr>
              <a:t>. To violate this meant being cut off.</a:t>
            </a:r>
            <a:endParaRPr lang="en-US" sz="3200" b="1" kern="1200" dirty="0">
              <a:solidFill>
                <a:srgbClr val="FF0000"/>
              </a:solidFill>
              <a:latin typeface="+mj-lt"/>
              <a:ea typeface="+mj-ea"/>
              <a:cs typeface="+mj-cs"/>
            </a:endParaRPr>
          </a:p>
        </p:txBody>
      </p:sp>
    </p:spTree>
    <p:extLst>
      <p:ext uri="{BB962C8B-B14F-4D97-AF65-F5344CB8AC3E}">
        <p14:creationId xmlns:p14="http://schemas.microsoft.com/office/powerpoint/2010/main" val="1561186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2BD48A99-A8DB-4A2C-88E5-B4F242618F55}"/>
              </a:ext>
            </a:extLst>
          </p:cNvPr>
          <p:cNvSpPr>
            <a:spLocks noGrp="1"/>
          </p:cNvSpPr>
          <p:nvPr>
            <p:ph type="title"/>
          </p:nvPr>
        </p:nvSpPr>
        <p:spPr>
          <a:xfrm>
            <a:off x="173181" y="211283"/>
            <a:ext cx="11845637" cy="4402281"/>
          </a:xfrm>
        </p:spPr>
        <p:txBody>
          <a:bodyPr vert="horz" lIns="91440" tIns="45720" rIns="91440" bIns="45720" rtlCol="0" anchor="ctr">
            <a:normAutofit/>
          </a:bodyPr>
          <a:lstStyle/>
          <a:p>
            <a:r>
              <a:rPr lang="en-GB" sz="3200" b="1" dirty="0">
                <a:solidFill>
                  <a:srgbClr val="FFFF00"/>
                </a:solidFill>
                <a:effectLst>
                  <a:outerShdw blurRad="38100" dist="38100" dir="2700000" algn="tl">
                    <a:srgbClr val="000000">
                      <a:alpha val="43137"/>
                    </a:srgbClr>
                  </a:outerShdw>
                </a:effectLst>
              </a:rPr>
              <a:t>When the tabernacle was set up, Moses was exhorted</a:t>
            </a:r>
            <a:r>
              <a:rPr lang="en-GB" sz="3200" b="1" dirty="0">
                <a:solidFill>
                  <a:schemeClr val="bg1"/>
                </a:solidFill>
                <a:effectLst>
                  <a:outerShdw blurRad="38100" dist="38100" dir="2700000" algn="tl">
                    <a:srgbClr val="000000">
                      <a:alpha val="43137"/>
                    </a:srgbClr>
                  </a:outerShdw>
                </a:effectLst>
              </a:rPr>
              <a:t>:</a:t>
            </a:r>
            <a:br>
              <a:rPr lang="en-GB" sz="3200" b="1" dirty="0">
                <a:solidFill>
                  <a:schemeClr val="bg1"/>
                </a:solidFill>
                <a:effectLst>
                  <a:outerShdw blurRad="38100" dist="38100" dir="2700000" algn="tl">
                    <a:srgbClr val="000000">
                      <a:alpha val="43137"/>
                    </a:srgbClr>
                  </a:outerShdw>
                </a:effectLst>
              </a:rPr>
            </a:br>
            <a:br>
              <a:rPr lang="en-GB" sz="3200" b="1" dirty="0">
                <a:solidFill>
                  <a:schemeClr val="bg1"/>
                </a:solidFill>
              </a:rPr>
            </a:br>
            <a:r>
              <a:rPr lang="en-US" sz="3200" b="1" dirty="0">
                <a:solidFill>
                  <a:schemeClr val="bg1"/>
                </a:solidFill>
              </a:rPr>
              <a:t>"Thou shalt take the anointing oil, and anoint the tabernacle, and all that is therein, and shalt hallow it, and all the vessels thereof.. . . And thou shalt put upon Aaron the holy garments, and anoint him, and sanctify him; that he may minister unto Me in the priest's office. And thou shalt bring his sons, . . . and thou shalt anoint them, . . . that they may minister unto Me in the priest's office." </a:t>
            </a:r>
            <a:r>
              <a:rPr lang="en-US" sz="3200" b="1" dirty="0">
                <a:solidFill>
                  <a:srgbClr val="FF0000"/>
                </a:solidFill>
              </a:rPr>
              <a:t>Ex. 40:9-15.</a:t>
            </a:r>
            <a:endParaRPr lang="en-US" sz="3200" b="1" kern="1200" dirty="0">
              <a:solidFill>
                <a:srgbClr val="FF0000"/>
              </a:solidFill>
              <a:latin typeface="+mj-lt"/>
              <a:ea typeface="+mj-ea"/>
              <a:cs typeface="+mj-cs"/>
            </a:endParaRPr>
          </a:p>
        </p:txBody>
      </p:sp>
    </p:spTree>
    <p:extLst>
      <p:ext uri="{BB962C8B-B14F-4D97-AF65-F5344CB8AC3E}">
        <p14:creationId xmlns:p14="http://schemas.microsoft.com/office/powerpoint/2010/main" val="2474930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2BD48A99-A8DB-4A2C-88E5-B4F242618F55}"/>
              </a:ext>
            </a:extLst>
          </p:cNvPr>
          <p:cNvSpPr>
            <a:spLocks noGrp="1"/>
          </p:cNvSpPr>
          <p:nvPr>
            <p:ph type="title"/>
          </p:nvPr>
        </p:nvSpPr>
        <p:spPr>
          <a:xfrm>
            <a:off x="173181" y="211283"/>
            <a:ext cx="11845637" cy="4402281"/>
          </a:xfrm>
        </p:spPr>
        <p:txBody>
          <a:bodyPr vert="horz" lIns="91440" tIns="45720" rIns="91440" bIns="45720" rtlCol="0" anchor="ctr">
            <a:normAutofit/>
          </a:bodyPr>
          <a:lstStyle/>
          <a:p>
            <a:r>
              <a:rPr lang="en-US" sz="3200" b="1" dirty="0">
                <a:solidFill>
                  <a:schemeClr val="bg1"/>
                </a:solidFill>
              </a:rPr>
              <a:t>When Moses had completed the setting up of the tabernacle, he was commanded to dedicate the sanctuary and to consecrate the priests be­fore- Aaron and his sons entered upon their sacred offices. The account of this dedicatory and consecration service is found in </a:t>
            </a:r>
            <a:r>
              <a:rPr lang="en-US" sz="3200" b="1" dirty="0">
                <a:solidFill>
                  <a:srgbClr val="FF0000"/>
                </a:solidFill>
              </a:rPr>
              <a:t>Leviticus 8</a:t>
            </a:r>
            <a:r>
              <a:rPr lang="en-US" sz="3200" b="1" dirty="0">
                <a:solidFill>
                  <a:schemeClr val="bg1"/>
                </a:solidFill>
              </a:rPr>
              <a:t>.</a:t>
            </a:r>
            <a:endParaRPr lang="en-US" sz="3200" b="1" kern="1200" dirty="0">
              <a:solidFill>
                <a:schemeClr val="bg1"/>
              </a:solidFill>
              <a:latin typeface="+mj-lt"/>
              <a:ea typeface="+mj-ea"/>
              <a:cs typeface="+mj-cs"/>
            </a:endParaRPr>
          </a:p>
        </p:txBody>
      </p:sp>
    </p:spTree>
    <p:extLst>
      <p:ext uri="{BB962C8B-B14F-4D97-AF65-F5344CB8AC3E}">
        <p14:creationId xmlns:p14="http://schemas.microsoft.com/office/powerpoint/2010/main" val="269474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2BD48A99-A8DB-4A2C-88E5-B4F242618F55}"/>
              </a:ext>
            </a:extLst>
          </p:cNvPr>
          <p:cNvSpPr>
            <a:spLocks noGrp="1"/>
          </p:cNvSpPr>
          <p:nvPr>
            <p:ph type="title"/>
          </p:nvPr>
        </p:nvSpPr>
        <p:spPr>
          <a:xfrm>
            <a:off x="173181" y="211283"/>
            <a:ext cx="11845637" cy="4402281"/>
          </a:xfrm>
        </p:spPr>
        <p:txBody>
          <a:bodyPr vert="horz" lIns="91440" tIns="45720" rIns="91440" bIns="45720" rtlCol="0" anchor="ctr">
            <a:normAutofit/>
          </a:bodyPr>
          <a:lstStyle/>
          <a:p>
            <a:r>
              <a:rPr lang="en-US" sz="3200" b="1" dirty="0">
                <a:solidFill>
                  <a:schemeClr val="bg1"/>
                </a:solidFill>
              </a:rPr>
              <a:t>Aaron and his sons were washed with water from the laver. They were then clothed with the holy garments. </a:t>
            </a:r>
            <a:r>
              <a:rPr lang="en-US" sz="3200" b="1" dirty="0">
                <a:solidFill>
                  <a:srgbClr val="FF0000"/>
                </a:solidFill>
              </a:rPr>
              <a:t>Verses 6-9</a:t>
            </a:r>
            <a:r>
              <a:rPr lang="en-US" sz="3200" b="1" dirty="0">
                <a:solidFill>
                  <a:schemeClr val="bg1"/>
                </a:solidFill>
              </a:rPr>
              <a:t>,</a:t>
            </a:r>
            <a:r>
              <a:rPr lang="en-US" sz="3200" b="1" dirty="0">
                <a:solidFill>
                  <a:srgbClr val="FF0000"/>
                </a:solidFill>
              </a:rPr>
              <a:t> 13</a:t>
            </a:r>
            <a:r>
              <a:rPr lang="en-US" sz="3200" b="1" dirty="0">
                <a:solidFill>
                  <a:schemeClr val="bg1"/>
                </a:solidFill>
              </a:rPr>
              <a:t>. The holy anointing oil was then applied to the sanctuary and its vessels. All parts of the tabernacle were anointed, including the furnishings in the most holy. </a:t>
            </a:r>
            <a:r>
              <a:rPr lang="en-US" sz="3200" b="1" dirty="0">
                <a:solidFill>
                  <a:srgbClr val="FF0000"/>
                </a:solidFill>
              </a:rPr>
              <a:t>Lev. 8:10</a:t>
            </a:r>
            <a:r>
              <a:rPr lang="en-US" sz="3200" b="1" dirty="0">
                <a:solidFill>
                  <a:schemeClr val="bg1"/>
                </a:solidFill>
              </a:rPr>
              <a:t>, </a:t>
            </a:r>
            <a:r>
              <a:rPr lang="en-US" sz="3200" b="1" dirty="0">
                <a:solidFill>
                  <a:srgbClr val="FF0000"/>
                </a:solidFill>
              </a:rPr>
              <a:t>11</a:t>
            </a:r>
            <a:r>
              <a:rPr lang="en-US" sz="3200" b="1" dirty="0">
                <a:solidFill>
                  <a:schemeClr val="bg1"/>
                </a:solidFill>
              </a:rPr>
              <a:t>; </a:t>
            </a:r>
            <a:r>
              <a:rPr lang="en-US" sz="3200" b="1" dirty="0">
                <a:solidFill>
                  <a:srgbClr val="FF0000"/>
                </a:solidFill>
              </a:rPr>
              <a:t>Ex. 30:26-28</a:t>
            </a:r>
            <a:r>
              <a:rPr lang="en-US" sz="3200" b="1" dirty="0">
                <a:solidFill>
                  <a:schemeClr val="bg1"/>
                </a:solidFill>
              </a:rPr>
              <a:t>. After the tabernacle and its furnishings, including the holy and the most holy, were anointed, the holy oil of anointing was poured upon the priests, upon Aaron and his sons. </a:t>
            </a:r>
            <a:r>
              <a:rPr lang="en-US" sz="3200" b="1" dirty="0">
                <a:solidFill>
                  <a:srgbClr val="FF0000"/>
                </a:solidFill>
              </a:rPr>
              <a:t>Lev. 8:12</a:t>
            </a:r>
            <a:r>
              <a:rPr lang="en-US" sz="3200" b="1" dirty="0">
                <a:solidFill>
                  <a:schemeClr val="bg1"/>
                </a:solidFill>
              </a:rPr>
              <a:t>;</a:t>
            </a:r>
            <a:r>
              <a:rPr lang="en-US" sz="3200" b="1" dirty="0">
                <a:solidFill>
                  <a:srgbClr val="FF0000"/>
                </a:solidFill>
              </a:rPr>
              <a:t> Ex. 30:30.</a:t>
            </a:r>
            <a:endParaRPr lang="en-US" sz="3200" b="1" kern="1200" dirty="0">
              <a:solidFill>
                <a:srgbClr val="FF0000"/>
              </a:solidFill>
              <a:latin typeface="+mj-lt"/>
              <a:ea typeface="+mj-ea"/>
              <a:cs typeface="+mj-cs"/>
            </a:endParaRPr>
          </a:p>
        </p:txBody>
      </p:sp>
    </p:spTree>
    <p:extLst>
      <p:ext uri="{BB962C8B-B14F-4D97-AF65-F5344CB8AC3E}">
        <p14:creationId xmlns:p14="http://schemas.microsoft.com/office/powerpoint/2010/main" val="2008274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D5AE11-A999-4306-8540-7625E98E0D54}"/>
              </a:ext>
            </a:extLst>
          </p:cNvPr>
          <p:cNvSpPr>
            <a:spLocks noGrp="1"/>
          </p:cNvSpPr>
          <p:nvPr>
            <p:ph type="title"/>
          </p:nvPr>
        </p:nvSpPr>
        <p:spPr>
          <a:xfrm>
            <a:off x="1120624" y="1122807"/>
            <a:ext cx="9954443" cy="4297680"/>
          </a:xfrm>
          <a:noFill/>
          <a:ln>
            <a:noFill/>
          </a:ln>
        </p:spPr>
        <p:txBody>
          <a:bodyPr>
            <a:normAutofit fontScale="90000"/>
          </a:bodyPr>
          <a:lstStyle/>
          <a:p>
            <a:pPr algn="ctr"/>
            <a:br>
              <a:rPr lang="en-JM" sz="3800" dirty="0">
                <a:solidFill>
                  <a:srgbClr val="FFFFFF"/>
                </a:solidFill>
              </a:rPr>
            </a:br>
            <a:r>
              <a:rPr lang="en-JM" sz="3800" b="1" dirty="0">
                <a:solidFill>
                  <a:srgbClr val="FFFFFF"/>
                </a:solidFill>
              </a:rPr>
              <a:t>The Scripture says regarding the thorough­ness with which this anointing with the holy oil was actually performed: "Behold, how good and how pleasant it is for brethren to dwell together in unity ! </a:t>
            </a:r>
            <a:r>
              <a:rPr lang="en-JM" sz="3800" b="1" dirty="0">
                <a:solidFill>
                  <a:srgbClr val="FFC000"/>
                </a:solidFill>
                <a:effectLst>
                  <a:outerShdw blurRad="38100" dist="38100" dir="2700000" algn="tl">
                    <a:srgbClr val="000000">
                      <a:alpha val="43137"/>
                    </a:srgbClr>
                  </a:outerShdw>
                </a:effectLst>
              </a:rPr>
              <a:t>It is like the precious oint­ment upon the head, that ran down upon the beard, even Aaron's beard: that went down to the skirts of his garments</a:t>
            </a:r>
            <a:r>
              <a:rPr lang="en-JM" sz="3800" b="1" dirty="0">
                <a:solidFill>
                  <a:srgbClr val="FFFFFF"/>
                </a:solidFill>
              </a:rPr>
              <a:t>." </a:t>
            </a:r>
            <a:r>
              <a:rPr lang="en-JM" sz="3800" b="1" dirty="0">
                <a:solidFill>
                  <a:srgbClr val="FF0000"/>
                </a:solidFill>
              </a:rPr>
              <a:t>Ps, 133:1, 2</a:t>
            </a:r>
            <a:r>
              <a:rPr lang="en-JM" sz="3800" b="1" dirty="0">
                <a:solidFill>
                  <a:srgbClr val="FFFFFF"/>
                </a:solidFill>
              </a:rPr>
              <a:t>.</a:t>
            </a:r>
            <a:endParaRPr lang="en-JM" sz="3800" dirty="0">
              <a:solidFill>
                <a:srgbClr val="FFFFFF"/>
              </a:solidFill>
            </a:endParaRPr>
          </a:p>
        </p:txBody>
      </p:sp>
    </p:spTree>
    <p:extLst>
      <p:ext uri="{BB962C8B-B14F-4D97-AF65-F5344CB8AC3E}">
        <p14:creationId xmlns:p14="http://schemas.microsoft.com/office/powerpoint/2010/main" val="3826491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D5AE11-A999-4306-8540-7625E98E0D54}"/>
              </a:ext>
            </a:extLst>
          </p:cNvPr>
          <p:cNvSpPr>
            <a:spLocks noGrp="1"/>
          </p:cNvSpPr>
          <p:nvPr>
            <p:ph type="title"/>
          </p:nvPr>
        </p:nvSpPr>
        <p:spPr>
          <a:xfrm>
            <a:off x="801519" y="802767"/>
            <a:ext cx="10585165" cy="4937760"/>
          </a:xfrm>
          <a:noFill/>
          <a:ln>
            <a:noFill/>
          </a:ln>
        </p:spPr>
        <p:txBody>
          <a:bodyPr>
            <a:noAutofit/>
          </a:bodyPr>
          <a:lstStyle/>
          <a:p>
            <a:pPr algn="ctr"/>
            <a:r>
              <a:rPr lang="en-US" sz="2800" b="1" dirty="0">
                <a:solidFill>
                  <a:schemeClr val="bg1"/>
                </a:solidFill>
              </a:rPr>
              <a:t>Thus, it is clear that every part of the sanc­tuary was set apart, dedicated, consecrated with the holy anointing oil. But the ministry of the sanctuary by the priests could not begin until </a:t>
            </a:r>
            <a:r>
              <a:rPr lang="en-US" sz="2800" b="1" i="1" dirty="0">
                <a:solidFill>
                  <a:schemeClr val="bg1"/>
                </a:solidFill>
              </a:rPr>
              <a:t>after </a:t>
            </a:r>
            <a:r>
              <a:rPr lang="en-US" sz="2800" b="1" dirty="0">
                <a:solidFill>
                  <a:schemeClr val="bg1"/>
                </a:solidFill>
              </a:rPr>
              <a:t>the tabernacle and the priests had been set apart by this sacred service. This dedication of the sacred structure was neces­sary before the priestly service could become effective therein. At the completion of this holy service, Aaron and his sons were prepared to carry forward the ministry of reconciliation with the sacrifices in the holy place. </a:t>
            </a:r>
            <a:r>
              <a:rPr lang="en-US" sz="2800" b="1" dirty="0">
                <a:solidFill>
                  <a:srgbClr val="FF0000"/>
                </a:solidFill>
              </a:rPr>
              <a:t>Lev. 9:4</a:t>
            </a:r>
            <a:r>
              <a:rPr lang="en-US" sz="2800" b="1" dirty="0">
                <a:solidFill>
                  <a:schemeClr val="bg1"/>
                </a:solidFill>
              </a:rPr>
              <a:t>, </a:t>
            </a:r>
            <a:r>
              <a:rPr lang="en-US" sz="2800" b="1" dirty="0">
                <a:solidFill>
                  <a:srgbClr val="FF0000"/>
                </a:solidFill>
              </a:rPr>
              <a:t>6</a:t>
            </a:r>
            <a:r>
              <a:rPr lang="en-US" sz="2800" b="1" dirty="0">
                <a:solidFill>
                  <a:schemeClr val="bg1"/>
                </a:solidFill>
              </a:rPr>
              <a:t>, </a:t>
            </a:r>
            <a:r>
              <a:rPr lang="en-US" sz="2800" b="1" dirty="0">
                <a:solidFill>
                  <a:srgbClr val="FF0000"/>
                </a:solidFill>
              </a:rPr>
              <a:t>22</a:t>
            </a:r>
            <a:r>
              <a:rPr lang="en-US" sz="2800" b="1" dirty="0">
                <a:solidFill>
                  <a:schemeClr val="bg1"/>
                </a:solidFill>
              </a:rPr>
              <a:t>, </a:t>
            </a:r>
            <a:r>
              <a:rPr lang="en-US" sz="2800" b="1" dirty="0">
                <a:solidFill>
                  <a:srgbClr val="FF0000"/>
                </a:solidFill>
              </a:rPr>
              <a:t>23</a:t>
            </a:r>
            <a:r>
              <a:rPr lang="en-US" sz="2800" b="1" dirty="0">
                <a:solidFill>
                  <a:schemeClr val="bg1"/>
                </a:solidFill>
              </a:rPr>
              <a:t>. God approved of the dedication of the sanctuary and the consecration of the priesthood. The sanctuary service now was inaugurated.</a:t>
            </a:r>
            <a:endParaRPr lang="en-JM" sz="2800" b="1" dirty="0">
              <a:solidFill>
                <a:schemeClr val="bg1"/>
              </a:solidFill>
            </a:endParaRPr>
          </a:p>
        </p:txBody>
      </p:sp>
    </p:spTree>
    <p:extLst>
      <p:ext uri="{BB962C8B-B14F-4D97-AF65-F5344CB8AC3E}">
        <p14:creationId xmlns:p14="http://schemas.microsoft.com/office/powerpoint/2010/main" val="4133516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2BD48A99-A8DB-4A2C-88E5-B4F242618F55}"/>
              </a:ext>
            </a:extLst>
          </p:cNvPr>
          <p:cNvSpPr>
            <a:spLocks noGrp="1"/>
          </p:cNvSpPr>
          <p:nvPr>
            <p:ph type="title"/>
          </p:nvPr>
        </p:nvSpPr>
        <p:spPr>
          <a:xfrm>
            <a:off x="173181" y="211283"/>
            <a:ext cx="11845637" cy="4402281"/>
          </a:xfrm>
        </p:spPr>
        <p:txBody>
          <a:bodyPr vert="horz" lIns="91440" tIns="45720" rIns="91440" bIns="45720" rtlCol="0" anchor="ctr">
            <a:noAutofit/>
          </a:bodyPr>
          <a:lstStyle/>
          <a:p>
            <a:r>
              <a:rPr lang="en-US" sz="3200" b="1" dirty="0">
                <a:solidFill>
                  <a:schemeClr val="bg1"/>
                </a:solidFill>
              </a:rPr>
              <a:t>Jesus, after He completed His work on earth, was taken to heaven to appear in the presence of God as man's high priest and intercessor. He ascended to minis­ter in the sanctuary which the Lord pitched and not man. </a:t>
            </a:r>
            <a:r>
              <a:rPr lang="en-US" sz="3200" b="1" dirty="0">
                <a:solidFill>
                  <a:srgbClr val="FF0000"/>
                </a:solidFill>
              </a:rPr>
              <a:t>Heb. 8:2</a:t>
            </a:r>
            <a:r>
              <a:rPr lang="en-US" sz="3200" b="1" dirty="0">
                <a:solidFill>
                  <a:schemeClr val="bg1"/>
                </a:solidFill>
              </a:rPr>
              <a:t>. Before He entered upon this priestly ministry in heaven, there must needs be a dedication of the heavenly sanctuary and a consecration of the priesthood of that sanctuary. </a:t>
            </a:r>
            <a:r>
              <a:rPr lang="en-US" sz="3200" b="1" dirty="0">
                <a:solidFill>
                  <a:srgbClr val="FF0000"/>
                </a:solidFill>
              </a:rPr>
              <a:t>Heb. 9:11-28</a:t>
            </a:r>
            <a:r>
              <a:rPr lang="en-US" sz="3200" b="1" dirty="0">
                <a:solidFill>
                  <a:schemeClr val="bg1"/>
                </a:solidFill>
              </a:rPr>
              <a:t>. Jesus as­cended to heaven forty days after His resurrec­tion. </a:t>
            </a:r>
            <a:r>
              <a:rPr lang="en-US" sz="3200" b="1" dirty="0">
                <a:solidFill>
                  <a:srgbClr val="FF0000"/>
                </a:solidFill>
              </a:rPr>
              <a:t>Acts 1:3</a:t>
            </a:r>
            <a:r>
              <a:rPr lang="en-US" sz="3200" b="1" dirty="0">
                <a:solidFill>
                  <a:schemeClr val="bg1"/>
                </a:solidFill>
              </a:rPr>
              <a:t>. According to the announce­ment of the angel Gabriel, recorded in </a:t>
            </a:r>
            <a:r>
              <a:rPr lang="en-US" sz="3200" b="1" dirty="0">
                <a:solidFill>
                  <a:srgbClr val="FF0000"/>
                </a:solidFill>
              </a:rPr>
              <a:t>Daniel 9:25-27</a:t>
            </a:r>
            <a:r>
              <a:rPr lang="en-US" sz="3200" b="1" dirty="0">
                <a:solidFill>
                  <a:schemeClr val="bg1"/>
                </a:solidFill>
              </a:rPr>
              <a:t>, Jesus must minister three- and one-half years on earth after He became Messiah.</a:t>
            </a:r>
            <a:endParaRPr lang="en-US" sz="3200" b="1" kern="1200" dirty="0">
              <a:solidFill>
                <a:schemeClr val="bg1"/>
              </a:solidFill>
              <a:latin typeface="+mj-lt"/>
              <a:ea typeface="+mj-ea"/>
              <a:cs typeface="+mj-cs"/>
            </a:endParaRPr>
          </a:p>
        </p:txBody>
      </p:sp>
    </p:spTree>
    <p:extLst>
      <p:ext uri="{BB962C8B-B14F-4D97-AF65-F5344CB8AC3E}">
        <p14:creationId xmlns:p14="http://schemas.microsoft.com/office/powerpoint/2010/main" val="33681928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6">
            <a:extLst>
              <a:ext uri="{FF2B5EF4-FFF2-40B4-BE49-F238E27FC236}">
                <a16:creationId xmlns:a16="http://schemas.microsoft.com/office/drawing/2014/main" id="{86197D16-FE75-4A0E-A0C9-28C0F04A4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57022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FA8FCEC6-4B30-4FF2-8B32-504BEAEA3A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t="45716" b="9820"/>
          <a:stretch>
            <a:fillRect/>
          </a:stretch>
        </p:blipFill>
        <p:spPr>
          <a:xfrm>
            <a:off x="0" y="3808676"/>
            <a:ext cx="12192000" cy="3049325"/>
          </a:xfrm>
          <a:custGeom>
            <a:avLst/>
            <a:gdLst>
              <a:gd name="connsiteX0" fmla="*/ 0 w 12192000"/>
              <a:gd name="connsiteY0" fmla="*/ 0 h 3049325"/>
              <a:gd name="connsiteX1" fmla="*/ 12192000 w 12192000"/>
              <a:gd name="connsiteY1" fmla="*/ 0 h 3049325"/>
              <a:gd name="connsiteX2" fmla="*/ 12192000 w 12192000"/>
              <a:gd name="connsiteY2" fmla="*/ 3049325 h 3049325"/>
              <a:gd name="connsiteX3" fmla="*/ 0 w 12192000"/>
              <a:gd name="connsiteY3" fmla="*/ 3049325 h 3049325"/>
            </a:gdLst>
            <a:ahLst/>
            <a:cxnLst>
              <a:cxn ang="0">
                <a:pos x="connsiteX0" y="connsiteY0"/>
              </a:cxn>
              <a:cxn ang="0">
                <a:pos x="connsiteX1" y="connsiteY1"/>
              </a:cxn>
              <a:cxn ang="0">
                <a:pos x="connsiteX2" y="connsiteY2"/>
              </a:cxn>
              <a:cxn ang="0">
                <a:pos x="connsiteX3" y="connsiteY3"/>
              </a:cxn>
            </a:cxnLst>
            <a:rect l="l" t="t" r="r" b="b"/>
            <a:pathLst>
              <a:path w="12192000" h="3049325">
                <a:moveTo>
                  <a:pt x="0" y="0"/>
                </a:moveTo>
                <a:lnTo>
                  <a:pt x="12192000" y="0"/>
                </a:lnTo>
                <a:lnTo>
                  <a:pt x="12192000" y="3049325"/>
                </a:lnTo>
                <a:lnTo>
                  <a:pt x="0" y="3049325"/>
                </a:lnTo>
                <a:close/>
              </a:path>
            </a:pathLst>
          </a:custGeom>
        </p:spPr>
      </p:pic>
      <p:sp>
        <p:nvSpPr>
          <p:cNvPr id="2" name="Title 1">
            <a:extLst>
              <a:ext uri="{FF2B5EF4-FFF2-40B4-BE49-F238E27FC236}">
                <a16:creationId xmlns:a16="http://schemas.microsoft.com/office/drawing/2014/main" id="{2BD48A99-A8DB-4A2C-88E5-B4F242618F55}"/>
              </a:ext>
            </a:extLst>
          </p:cNvPr>
          <p:cNvSpPr>
            <a:spLocks noGrp="1"/>
          </p:cNvSpPr>
          <p:nvPr>
            <p:ph type="title"/>
          </p:nvPr>
        </p:nvSpPr>
        <p:spPr>
          <a:xfrm>
            <a:off x="173181" y="211283"/>
            <a:ext cx="11845637" cy="4402281"/>
          </a:xfrm>
        </p:spPr>
        <p:txBody>
          <a:bodyPr vert="horz" lIns="91440" tIns="45720" rIns="91440" bIns="45720" rtlCol="0" anchor="ctr">
            <a:noAutofit/>
          </a:bodyPr>
          <a:lstStyle/>
          <a:p>
            <a:r>
              <a:rPr lang="en-US" sz="3200" b="1" dirty="0">
                <a:solidFill>
                  <a:schemeClr val="bg1"/>
                </a:solidFill>
              </a:rPr>
              <a:t>His </a:t>
            </a:r>
            <a:r>
              <a:rPr lang="en-US" sz="3200" b="1" i="1" dirty="0">
                <a:solidFill>
                  <a:srgbClr val="FFC000"/>
                </a:solidFill>
              </a:rPr>
              <a:t>Messianic </a:t>
            </a:r>
            <a:r>
              <a:rPr lang="en-US" sz="3200" b="1" dirty="0">
                <a:solidFill>
                  <a:srgbClr val="FFC000"/>
                </a:solidFill>
              </a:rPr>
              <a:t>anointing </a:t>
            </a:r>
            <a:r>
              <a:rPr lang="en-US" sz="3200" b="1" dirty="0">
                <a:solidFill>
                  <a:schemeClr val="bg1"/>
                </a:solidFill>
              </a:rPr>
              <a:t>occurred at His</a:t>
            </a:r>
            <a:r>
              <a:rPr lang="en-US" sz="3200" b="1" dirty="0">
                <a:solidFill>
                  <a:srgbClr val="FFC000"/>
                </a:solidFill>
              </a:rPr>
              <a:t> bap­tism </a:t>
            </a:r>
            <a:r>
              <a:rPr lang="en-US" sz="3200" b="1" dirty="0">
                <a:solidFill>
                  <a:schemeClr val="bg1"/>
                </a:solidFill>
              </a:rPr>
              <a:t>in </a:t>
            </a:r>
            <a:r>
              <a:rPr lang="en-US" sz="3200" b="1" dirty="0">
                <a:solidFill>
                  <a:srgbClr val="FFFF00"/>
                </a:solidFill>
              </a:rPr>
              <a:t>October, 27 A. D</a:t>
            </a:r>
            <a:r>
              <a:rPr lang="en-US" sz="3200" b="1" dirty="0">
                <a:solidFill>
                  <a:schemeClr val="bg1"/>
                </a:solidFill>
              </a:rPr>
              <a:t>. He labored among men three and one-half years following His baptism, and then died as the Lamb of God. Therefore, His ascension took place over three years before the completion of the full </a:t>
            </a:r>
            <a:r>
              <a:rPr lang="en-US" sz="3200" b="1" dirty="0">
                <a:solidFill>
                  <a:srgbClr val="FFFF00"/>
                </a:solidFill>
              </a:rPr>
              <a:t>490 years</a:t>
            </a:r>
            <a:r>
              <a:rPr lang="en-US" sz="3200" b="1" dirty="0">
                <a:solidFill>
                  <a:schemeClr val="bg1"/>
                </a:solidFill>
              </a:rPr>
              <a:t>. </a:t>
            </a:r>
            <a:r>
              <a:rPr lang="en-US" sz="3200" b="1" i="1" dirty="0">
                <a:solidFill>
                  <a:schemeClr val="bg1"/>
                </a:solidFill>
              </a:rPr>
              <a:t>It is the "</a:t>
            </a:r>
            <a:r>
              <a:rPr lang="en-US" sz="3200" b="1" i="1" dirty="0">
                <a:solidFill>
                  <a:srgbClr val="FF0000"/>
                </a:solidFill>
              </a:rPr>
              <a:t>most holy</a:t>
            </a:r>
            <a:r>
              <a:rPr lang="en-US" sz="3200" b="1" i="1" dirty="0">
                <a:solidFill>
                  <a:schemeClr val="bg1"/>
                </a:solidFill>
              </a:rPr>
              <a:t>" of the </a:t>
            </a:r>
            <a:r>
              <a:rPr lang="en-US" sz="3200" b="1" i="1" dirty="0">
                <a:solidFill>
                  <a:srgbClr val="FFFF00"/>
                </a:solidFill>
              </a:rPr>
              <a:t>heavenly sanctuary </a:t>
            </a:r>
            <a:r>
              <a:rPr lang="en-US" sz="3200" b="1" i="1" dirty="0">
                <a:solidFill>
                  <a:schemeClr val="bg1"/>
                </a:solidFill>
              </a:rPr>
              <a:t>which Gabriel declared should be anointed during the seventy times seven years.</a:t>
            </a:r>
            <a:endParaRPr lang="en-US" sz="3200" b="1" kern="1200" dirty="0">
              <a:solidFill>
                <a:schemeClr val="bg1"/>
              </a:solidFill>
              <a:latin typeface="+mj-lt"/>
              <a:ea typeface="+mj-ea"/>
              <a:cs typeface="+mj-cs"/>
            </a:endParaRPr>
          </a:p>
        </p:txBody>
      </p:sp>
    </p:spTree>
    <p:extLst>
      <p:ext uri="{BB962C8B-B14F-4D97-AF65-F5344CB8AC3E}">
        <p14:creationId xmlns:p14="http://schemas.microsoft.com/office/powerpoint/2010/main" val="3471916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6B070E7-9A55-4534-B8F7-6679CD4B8324}"/>
              </a:ext>
            </a:extLst>
          </p:cNvPr>
          <p:cNvSpPr>
            <a:spLocks noGrp="1"/>
          </p:cNvSpPr>
          <p:nvPr>
            <p:ph idx="1"/>
          </p:nvPr>
        </p:nvSpPr>
        <p:spPr>
          <a:xfrm>
            <a:off x="838200" y="1404730"/>
            <a:ext cx="10515600" cy="4772233"/>
          </a:xfrm>
        </p:spPr>
        <p:txBody>
          <a:bodyPr/>
          <a:lstStyle/>
          <a:p>
            <a:r>
              <a:rPr lang="en-GB" dirty="0"/>
              <a:t>When was it consecrated/inaugurated?</a:t>
            </a:r>
          </a:p>
          <a:p>
            <a:r>
              <a:rPr lang="en-GB" dirty="0"/>
              <a:t>Does the NT speaks of it’s consecration/inauguration?</a:t>
            </a:r>
            <a:endParaRPr lang="en-JM" dirty="0"/>
          </a:p>
        </p:txBody>
      </p:sp>
    </p:spTree>
    <p:extLst>
      <p:ext uri="{BB962C8B-B14F-4D97-AF65-F5344CB8AC3E}">
        <p14:creationId xmlns:p14="http://schemas.microsoft.com/office/powerpoint/2010/main" val="26055193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06D986-01B5-411D-9E72-65630F5224F4}"/>
              </a:ext>
            </a:extLst>
          </p:cNvPr>
          <p:cNvSpPr>
            <a:spLocks noGrp="1"/>
          </p:cNvSpPr>
          <p:nvPr>
            <p:ph type="title"/>
          </p:nvPr>
        </p:nvSpPr>
        <p:spPr>
          <a:xfrm>
            <a:off x="6096001" y="616226"/>
            <a:ext cx="5830956" cy="4810539"/>
          </a:xfrm>
        </p:spPr>
        <p:txBody>
          <a:bodyPr vert="horz" lIns="91440" tIns="45720" rIns="91440" bIns="45720" rtlCol="0" anchor="b">
            <a:normAutofit/>
          </a:bodyPr>
          <a:lstStyle/>
          <a:p>
            <a:r>
              <a:rPr lang="en-JM" b="1" baseline="30000" dirty="0">
                <a:solidFill>
                  <a:srgbClr val="0070C0"/>
                </a:solidFill>
                <a:effectLst>
                  <a:outerShdw blurRad="38100" dist="38100" dir="2700000" algn="tl">
                    <a:srgbClr val="000000">
                      <a:alpha val="43137"/>
                    </a:srgbClr>
                  </a:outerShdw>
                </a:effectLst>
              </a:rPr>
              <a:t>HEB 9:12</a:t>
            </a:r>
            <a:r>
              <a:rPr lang="en-JM" b="1" dirty="0">
                <a:solidFill>
                  <a:srgbClr val="0070C0"/>
                </a:solidFill>
                <a:effectLst>
                  <a:outerShdw blurRad="38100" dist="38100" dir="2700000" algn="tl">
                    <a:srgbClr val="000000">
                      <a:alpha val="43137"/>
                    </a:srgbClr>
                  </a:outerShdw>
                </a:effectLst>
              </a:rPr>
              <a:t> </a:t>
            </a:r>
            <a:r>
              <a:rPr lang="en-JM" sz="3600" b="1" dirty="0"/>
              <a:t>Neither by the blood of goats and calves, but by </a:t>
            </a:r>
            <a:r>
              <a:rPr lang="en-JM" sz="3600" b="1" dirty="0">
                <a:solidFill>
                  <a:srgbClr val="FF0000"/>
                </a:solidFill>
              </a:rPr>
              <a:t>his</a:t>
            </a:r>
            <a:r>
              <a:rPr lang="en-JM" sz="3600" b="1" dirty="0"/>
              <a:t> </a:t>
            </a:r>
            <a:r>
              <a:rPr lang="en-JM" sz="3600" b="1" dirty="0">
                <a:solidFill>
                  <a:srgbClr val="FF0000"/>
                </a:solidFill>
              </a:rPr>
              <a:t>own blood </a:t>
            </a:r>
            <a:r>
              <a:rPr lang="en-JM" sz="3600" b="1" dirty="0"/>
              <a:t>he entered in once into the </a:t>
            </a:r>
            <a:r>
              <a:rPr lang="en-JM" sz="3600" b="1" dirty="0">
                <a:solidFill>
                  <a:srgbClr val="FFC000"/>
                </a:solidFill>
                <a:effectLst>
                  <a:outerShdw blurRad="38100" dist="38100" dir="2700000" algn="tl">
                    <a:srgbClr val="000000">
                      <a:alpha val="43137"/>
                    </a:srgbClr>
                  </a:outerShdw>
                </a:effectLst>
              </a:rPr>
              <a:t>holy place</a:t>
            </a:r>
            <a:r>
              <a:rPr lang="en-JM" sz="3600" b="1" dirty="0"/>
              <a:t>, having obtained eternal redemption for us. </a:t>
            </a:r>
            <a:r>
              <a:rPr lang="en-JM" sz="3600" b="1" baseline="30000" dirty="0">
                <a:effectLst>
                  <a:outerShdw blurRad="38100" dist="38100" dir="2700000" algn="tl">
                    <a:srgbClr val="000000">
                      <a:alpha val="43137"/>
                    </a:srgbClr>
                  </a:outerShdw>
                </a:effectLst>
              </a:rPr>
              <a:t>KJV,</a:t>
            </a:r>
            <a:br>
              <a:rPr lang="en-JM" sz="3600" b="1" dirty="0"/>
            </a:br>
            <a:endParaRPr lang="en-US" sz="3600" b="1" dirty="0"/>
          </a:p>
        </p:txBody>
      </p:sp>
      <p:pic>
        <p:nvPicPr>
          <p:cNvPr id="6" name="Picture 5" descr="A person wearing a costume&#10;&#10;Description automatically generated">
            <a:extLst>
              <a:ext uri="{FF2B5EF4-FFF2-40B4-BE49-F238E27FC236}">
                <a16:creationId xmlns:a16="http://schemas.microsoft.com/office/drawing/2014/main" id="{13C62058-BB42-4CF3-9170-C39F1B05A6C6}"/>
              </a:ext>
            </a:extLst>
          </p:cNvPr>
          <p:cNvPicPr>
            <a:picLocks noChangeAspect="1"/>
          </p:cNvPicPr>
          <p:nvPr/>
        </p:nvPicPr>
        <p:blipFill rotWithShape="1">
          <a:blip r:embed="rId3">
            <a:extLst>
              <a:ext uri="{28A0092B-C50C-407E-A947-70E740481C1C}">
                <a14:useLocalDpi xmlns:a14="http://schemas.microsoft.com/office/drawing/2010/main" val="0"/>
              </a:ext>
            </a:extLst>
          </a:blip>
          <a:srcRect b="21734"/>
          <a:stretch/>
        </p:blipFill>
        <p:spPr>
          <a:xfrm>
            <a:off x="20" y="10"/>
            <a:ext cx="6024134" cy="685799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Tree>
    <p:extLst>
      <p:ext uri="{BB962C8B-B14F-4D97-AF65-F5344CB8AC3E}">
        <p14:creationId xmlns:p14="http://schemas.microsoft.com/office/powerpoint/2010/main" val="2554207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4C653-909D-4C12-8824-EC6ED447F762}"/>
              </a:ext>
            </a:extLst>
          </p:cNvPr>
          <p:cNvSpPr>
            <a:spLocks noGrp="1"/>
          </p:cNvSpPr>
          <p:nvPr>
            <p:ph type="title"/>
          </p:nvPr>
        </p:nvSpPr>
        <p:spPr>
          <a:xfrm>
            <a:off x="838200" y="0"/>
            <a:ext cx="10515600" cy="499403"/>
          </a:xfrm>
        </p:spPr>
        <p:txBody>
          <a:bodyPr>
            <a:normAutofit fontScale="90000"/>
          </a:bodyPr>
          <a:lstStyle/>
          <a:p>
            <a:pPr algn="ctr"/>
            <a:br>
              <a:rPr lang="en-GB" dirty="0"/>
            </a:br>
            <a:r>
              <a:rPr lang="en-JM" sz="4800" b="1" baseline="30000" dirty="0">
                <a:solidFill>
                  <a:srgbClr val="0070C0"/>
                </a:solidFill>
                <a:effectLst>
                  <a:outerShdw blurRad="38100" dist="38100" dir="2700000" algn="tl">
                    <a:srgbClr val="000000">
                      <a:alpha val="43137"/>
                    </a:srgbClr>
                  </a:outerShdw>
                </a:effectLst>
              </a:rPr>
              <a:t>HEBREWS 9:12</a:t>
            </a:r>
            <a:endParaRPr lang="en-JM" sz="4800" dirty="0"/>
          </a:p>
        </p:txBody>
      </p:sp>
      <p:sp>
        <p:nvSpPr>
          <p:cNvPr id="5" name="Content Placeholder 4">
            <a:extLst>
              <a:ext uri="{FF2B5EF4-FFF2-40B4-BE49-F238E27FC236}">
                <a16:creationId xmlns:a16="http://schemas.microsoft.com/office/drawing/2014/main" id="{16AA50DD-3AE3-4DEB-A1B5-67B008D3877F}"/>
              </a:ext>
            </a:extLst>
          </p:cNvPr>
          <p:cNvSpPr>
            <a:spLocks noGrp="1"/>
          </p:cNvSpPr>
          <p:nvPr>
            <p:ph idx="1"/>
          </p:nvPr>
        </p:nvSpPr>
        <p:spPr>
          <a:xfrm>
            <a:off x="838200" y="675249"/>
            <a:ext cx="10515600" cy="5683348"/>
          </a:xfrm>
        </p:spPr>
        <p:txBody>
          <a:bodyPr>
            <a:normAutofit/>
          </a:bodyPr>
          <a:lstStyle/>
          <a:p>
            <a:r>
              <a:rPr lang="en-US" b="1" dirty="0"/>
              <a:t>Hebrews 9:12 (KJV)</a:t>
            </a:r>
            <a:r>
              <a:rPr lang="en-US" dirty="0"/>
              <a:t> Neither by the blood of goats and calves, but by his own blood he entered in once into the </a:t>
            </a:r>
            <a:r>
              <a:rPr lang="en-US" dirty="0">
                <a:solidFill>
                  <a:srgbClr val="FFC000"/>
                </a:solidFill>
                <a:effectLst>
                  <a:outerShdw blurRad="38100" dist="38100" dir="2700000" algn="tl">
                    <a:srgbClr val="000000">
                      <a:alpha val="43137"/>
                    </a:srgbClr>
                  </a:outerShdw>
                </a:effectLst>
              </a:rPr>
              <a:t>holy place</a:t>
            </a:r>
            <a:r>
              <a:rPr lang="en-US" dirty="0"/>
              <a:t>, having obtained eternal redemption for us.</a:t>
            </a:r>
            <a:endParaRPr lang="en-US" b="1" dirty="0"/>
          </a:p>
          <a:p>
            <a:r>
              <a:rPr lang="en-US" b="1" dirty="0"/>
              <a:t>Hebrews 9:12 (ESV)</a:t>
            </a:r>
            <a:r>
              <a:rPr lang="en-US" dirty="0"/>
              <a:t> he entered once for all into the </a:t>
            </a:r>
            <a:r>
              <a:rPr lang="en-US" dirty="0">
                <a:solidFill>
                  <a:srgbClr val="FFC000"/>
                </a:solidFill>
                <a:effectLst>
                  <a:outerShdw blurRad="38100" dist="38100" dir="2700000" algn="tl">
                    <a:srgbClr val="000000">
                      <a:alpha val="43137"/>
                    </a:srgbClr>
                  </a:outerShdw>
                </a:effectLst>
              </a:rPr>
              <a:t>holy places</a:t>
            </a:r>
            <a:r>
              <a:rPr lang="en-US" dirty="0"/>
              <a:t>, not by means of the blood of goats and calves but by means of his own blood, thus securing an eternal redemption.</a:t>
            </a:r>
          </a:p>
          <a:p>
            <a:r>
              <a:rPr lang="en-US" b="1" dirty="0"/>
              <a:t>Hebrews 9:12 (NKJV)</a:t>
            </a:r>
            <a:r>
              <a:rPr lang="en-US" dirty="0"/>
              <a:t> Not with the blood of goats and calves, but with His own blood He entered the </a:t>
            </a:r>
            <a:r>
              <a:rPr lang="en-US" dirty="0">
                <a:solidFill>
                  <a:srgbClr val="FFC000"/>
                </a:solidFill>
                <a:effectLst>
                  <a:outerShdw blurRad="38100" dist="38100" dir="2700000" algn="tl">
                    <a:srgbClr val="000000">
                      <a:alpha val="43137"/>
                    </a:srgbClr>
                  </a:outerShdw>
                </a:effectLst>
              </a:rPr>
              <a:t>Most Holy Place </a:t>
            </a:r>
            <a:r>
              <a:rPr lang="en-US" dirty="0"/>
              <a:t>once for all, having obtained eternal redemption.</a:t>
            </a:r>
          </a:p>
          <a:p>
            <a:r>
              <a:rPr lang="en-JM" b="1" dirty="0"/>
              <a:t>Hebrews 9:12 (SBLG)</a:t>
            </a:r>
            <a:r>
              <a:rPr lang="en-JM" dirty="0"/>
              <a:t> </a:t>
            </a:r>
            <a:r>
              <a:rPr lang="el-GR" dirty="0"/>
              <a:t>οὐδὲ δι’ αἵματος τράγων καὶ μόσχων διὰ δὲ τοῦ ἰδίου αἵματος, εἰσῆλθεν ἐφάπαξ εἰς </a:t>
            </a:r>
            <a:r>
              <a:rPr lang="el-GR" dirty="0">
                <a:solidFill>
                  <a:srgbClr val="FFC000"/>
                </a:solidFill>
                <a:effectLst>
                  <a:outerShdw blurRad="38100" dist="38100" dir="2700000" algn="tl">
                    <a:srgbClr val="000000">
                      <a:alpha val="43137"/>
                    </a:srgbClr>
                  </a:outerShdw>
                </a:effectLst>
              </a:rPr>
              <a:t>τὰ ἅγια</a:t>
            </a:r>
            <a:r>
              <a:rPr lang="el-GR" dirty="0"/>
              <a:t>, αἰωνίαν λύτρωσιν εὑράμενος.</a:t>
            </a:r>
            <a:endParaRPr lang="en-JM" dirty="0"/>
          </a:p>
        </p:txBody>
      </p:sp>
    </p:spTree>
    <p:extLst>
      <p:ext uri="{BB962C8B-B14F-4D97-AF65-F5344CB8AC3E}">
        <p14:creationId xmlns:p14="http://schemas.microsoft.com/office/powerpoint/2010/main" val="2132477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689129-580F-4475-869A-B7936A6D0B34}"/>
              </a:ext>
            </a:extLst>
          </p:cNvPr>
          <p:cNvSpPr>
            <a:spLocks noGrp="1"/>
          </p:cNvSpPr>
          <p:nvPr>
            <p:ph type="ctrTitle"/>
          </p:nvPr>
        </p:nvSpPr>
        <p:spPr>
          <a:xfrm>
            <a:off x="1524000" y="411577"/>
            <a:ext cx="9144000" cy="1188623"/>
          </a:xfrm>
        </p:spPr>
        <p:txBody>
          <a:bodyPr/>
          <a:lstStyle/>
          <a:p>
            <a:r>
              <a:rPr lang="en-JM" b="1" dirty="0"/>
              <a:t>Hebrews 9:11-12</a:t>
            </a:r>
          </a:p>
        </p:txBody>
      </p:sp>
      <p:sp>
        <p:nvSpPr>
          <p:cNvPr id="4" name="Subtitle 3">
            <a:extLst>
              <a:ext uri="{FF2B5EF4-FFF2-40B4-BE49-F238E27FC236}">
                <a16:creationId xmlns:a16="http://schemas.microsoft.com/office/drawing/2014/main" id="{FDA5B5C7-0097-4392-AC25-550548ABFDD8}"/>
              </a:ext>
            </a:extLst>
          </p:cNvPr>
          <p:cNvSpPr>
            <a:spLocks noGrp="1"/>
          </p:cNvSpPr>
          <p:nvPr>
            <p:ph type="subTitle" idx="1"/>
          </p:nvPr>
        </p:nvSpPr>
        <p:spPr>
          <a:xfrm>
            <a:off x="1333500" y="1921565"/>
            <a:ext cx="9785074" cy="3723861"/>
          </a:xfrm>
        </p:spPr>
        <p:txBody>
          <a:bodyPr>
            <a:normAutofit/>
          </a:bodyPr>
          <a:lstStyle/>
          <a:p>
            <a:pPr algn="l"/>
            <a:r>
              <a:rPr lang="en-US" sz="3200" dirty="0"/>
              <a:t>11 But Christ being come an </a:t>
            </a:r>
            <a:r>
              <a:rPr lang="en-US" sz="3200" dirty="0">
                <a:highlight>
                  <a:srgbClr val="FFFF00"/>
                </a:highlight>
              </a:rPr>
              <a:t>high priest of good things to come</a:t>
            </a:r>
            <a:r>
              <a:rPr lang="en-US" sz="3200" dirty="0"/>
              <a:t>, by a greater and more </a:t>
            </a:r>
            <a:r>
              <a:rPr lang="en-US" sz="3200" dirty="0">
                <a:solidFill>
                  <a:srgbClr val="FF0000"/>
                </a:solidFill>
              </a:rPr>
              <a:t>perfect tabernacle</a:t>
            </a:r>
            <a:r>
              <a:rPr lang="en-US" sz="3200" dirty="0"/>
              <a:t>, </a:t>
            </a:r>
            <a:r>
              <a:rPr lang="en-US" sz="3200" dirty="0">
                <a:solidFill>
                  <a:srgbClr val="FF0000"/>
                </a:solidFill>
              </a:rPr>
              <a:t>not made with hands</a:t>
            </a:r>
            <a:r>
              <a:rPr lang="en-US" sz="3200" dirty="0"/>
              <a:t>, that is to say, not of this building;</a:t>
            </a:r>
          </a:p>
          <a:p>
            <a:pPr algn="l"/>
            <a:r>
              <a:rPr lang="en-US" sz="3200" dirty="0"/>
              <a:t>12 Neither by the blood of goats and calves, but by </a:t>
            </a:r>
            <a:r>
              <a:rPr lang="en-US" sz="3200" dirty="0">
                <a:solidFill>
                  <a:srgbClr val="FF0000"/>
                </a:solidFill>
              </a:rPr>
              <a:t>his own blood</a:t>
            </a:r>
            <a:r>
              <a:rPr lang="en-US" sz="3200" dirty="0"/>
              <a:t> he entered in once into the </a:t>
            </a:r>
            <a:r>
              <a:rPr lang="en-US" sz="3200" dirty="0">
                <a:solidFill>
                  <a:srgbClr val="FF0000"/>
                </a:solidFill>
              </a:rPr>
              <a:t>holy place</a:t>
            </a:r>
            <a:r>
              <a:rPr lang="en-US" sz="3200" dirty="0"/>
              <a:t>, having obtained eternal redemption for us.</a:t>
            </a:r>
            <a:endParaRPr lang="en-JM" sz="3200" dirty="0"/>
          </a:p>
        </p:txBody>
      </p:sp>
    </p:spTree>
    <p:extLst>
      <p:ext uri="{BB962C8B-B14F-4D97-AF65-F5344CB8AC3E}">
        <p14:creationId xmlns:p14="http://schemas.microsoft.com/office/powerpoint/2010/main" val="782728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F2EA-1B78-4847-B59D-0C1FD2F1DCDB}"/>
              </a:ext>
            </a:extLst>
          </p:cNvPr>
          <p:cNvSpPr>
            <a:spLocks noGrp="1"/>
          </p:cNvSpPr>
          <p:nvPr>
            <p:ph type="ctrTitle"/>
          </p:nvPr>
        </p:nvSpPr>
        <p:spPr>
          <a:xfrm>
            <a:off x="1524000" y="914400"/>
            <a:ext cx="9144000" cy="834887"/>
          </a:xfrm>
        </p:spPr>
        <p:txBody>
          <a:bodyPr>
            <a:normAutofit fontScale="90000"/>
          </a:bodyPr>
          <a:lstStyle/>
          <a:p>
            <a:pPr algn="ctr"/>
            <a:r>
              <a:rPr lang="en-GB" b="1" dirty="0">
                <a:effectLst>
                  <a:outerShdw blurRad="38100" dist="38100" dir="2700000" algn="tl">
                    <a:srgbClr val="000000">
                      <a:alpha val="43137"/>
                    </a:srgbClr>
                  </a:outerShdw>
                </a:effectLst>
              </a:rPr>
              <a:t>Hebrews 1: 3, 9</a:t>
            </a:r>
            <a:br>
              <a:rPr lang="en-GB" dirty="0"/>
            </a:br>
            <a:endParaRPr lang="en-JM" dirty="0"/>
          </a:p>
        </p:txBody>
      </p:sp>
      <p:sp>
        <p:nvSpPr>
          <p:cNvPr id="3" name="Subtitle 2">
            <a:extLst>
              <a:ext uri="{FF2B5EF4-FFF2-40B4-BE49-F238E27FC236}">
                <a16:creationId xmlns:a16="http://schemas.microsoft.com/office/drawing/2014/main" id="{122E9FBF-E825-43E3-B954-561B5CD7DBFF}"/>
              </a:ext>
            </a:extLst>
          </p:cNvPr>
          <p:cNvSpPr>
            <a:spLocks noGrp="1"/>
          </p:cNvSpPr>
          <p:nvPr>
            <p:ph type="subTitle" idx="1"/>
          </p:nvPr>
        </p:nvSpPr>
        <p:spPr>
          <a:xfrm>
            <a:off x="1524000" y="1882588"/>
            <a:ext cx="9144000" cy="4370294"/>
          </a:xfrm>
        </p:spPr>
        <p:txBody>
          <a:bodyPr>
            <a:normAutofit/>
          </a:bodyPr>
          <a:lstStyle/>
          <a:p>
            <a:pPr marL="342900" indent="-342900" algn="l">
              <a:buFont typeface="Arial" panose="020B0604020202020204" pitchFamily="34" charset="0"/>
              <a:buChar char="•"/>
            </a:pPr>
            <a:r>
              <a:rPr lang="en-US" sz="3200" dirty="0"/>
              <a:t>3 Who being the brightness of his glory, and the express image of his person, and upholding all things by the word of his power, when he had by himself purged our sins, sat down on the right hand of the Majesty on high:</a:t>
            </a:r>
          </a:p>
          <a:p>
            <a:pPr marL="342900" indent="-342900" algn="l">
              <a:buFont typeface="Arial" panose="020B0604020202020204" pitchFamily="34" charset="0"/>
              <a:buChar char="•"/>
            </a:pPr>
            <a:r>
              <a:rPr lang="en-US" sz="3200" dirty="0"/>
              <a:t>9 Thou hast loved righteousness, and hated iniquity; therefore God, even thy God, hath anointed thee with the oil of gladness above thy fellows.</a:t>
            </a:r>
            <a:endParaRPr lang="en-JM" sz="3200" dirty="0"/>
          </a:p>
        </p:txBody>
      </p:sp>
    </p:spTree>
    <p:extLst>
      <p:ext uri="{BB962C8B-B14F-4D97-AF65-F5344CB8AC3E}">
        <p14:creationId xmlns:p14="http://schemas.microsoft.com/office/powerpoint/2010/main" val="29842209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82F2EA-1B78-4847-B59D-0C1FD2F1DCDB}"/>
              </a:ext>
            </a:extLst>
          </p:cNvPr>
          <p:cNvSpPr>
            <a:spLocks noGrp="1"/>
          </p:cNvSpPr>
          <p:nvPr>
            <p:ph type="ctrTitle"/>
          </p:nvPr>
        </p:nvSpPr>
        <p:spPr>
          <a:xfrm>
            <a:off x="808638" y="386930"/>
            <a:ext cx="9236700" cy="1188950"/>
          </a:xfrm>
        </p:spPr>
        <p:txBody>
          <a:bodyPr vert="horz" lIns="91440" tIns="45720" rIns="91440" bIns="45720" rtlCol="0" anchor="b">
            <a:normAutofit/>
          </a:bodyPr>
          <a:lstStyle/>
          <a:p>
            <a:pPr algn="l"/>
            <a:r>
              <a:rPr lang="en-US" sz="5400" b="1" kern="1200">
                <a:solidFill>
                  <a:schemeClr val="tx1"/>
                </a:solidFill>
                <a:effectLst>
                  <a:outerShdw blurRad="38100" dist="38100" dir="2700000" algn="tl">
                    <a:srgbClr val="000000">
                      <a:alpha val="43137"/>
                    </a:srgbClr>
                  </a:outerShdw>
                </a:effectLst>
                <a:latin typeface="+mj-lt"/>
                <a:ea typeface="+mj-ea"/>
                <a:cs typeface="+mj-cs"/>
              </a:rPr>
              <a:t>Hebrews 9</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2DAD0FD-191B-4E65-8FE5-83E491E3BB1D}"/>
              </a:ext>
            </a:extLst>
          </p:cNvPr>
          <p:cNvSpPr>
            <a:spLocks noGrp="1"/>
          </p:cNvSpPr>
          <p:nvPr>
            <p:ph type="subTitle" idx="1"/>
          </p:nvPr>
        </p:nvSpPr>
        <p:spPr>
          <a:xfrm>
            <a:off x="268941" y="1998369"/>
            <a:ext cx="11114421" cy="4859631"/>
          </a:xfrm>
        </p:spPr>
        <p:txBody>
          <a:bodyPr vert="horz" lIns="91440" tIns="45720" rIns="91440" bIns="45720" rtlCol="0" anchor="ctr">
            <a:normAutofit/>
          </a:bodyPr>
          <a:lstStyle/>
          <a:p>
            <a:pPr algn="l"/>
            <a:r>
              <a:rPr lang="en-US" sz="3200" dirty="0"/>
              <a:t>Now Hebrews 9 is almost written in a parable form.</a:t>
            </a:r>
          </a:p>
          <a:p>
            <a:pPr marL="342900" indent="-228600" algn="l">
              <a:buFont typeface="Arial" panose="020B0604020202020204" pitchFamily="34" charset="0"/>
              <a:buChar char="•"/>
            </a:pPr>
            <a:r>
              <a:rPr lang="en-US" sz="3200" dirty="0">
                <a:solidFill>
                  <a:srgbClr val="FF0000"/>
                </a:solidFill>
              </a:rPr>
              <a:t>Hebrews 9: 1-10 </a:t>
            </a:r>
            <a:r>
              <a:rPr lang="en-US" sz="3200" dirty="0"/>
              <a:t>is telling us that  the ministry in the earthly sanctuary system could not make the worshiper perfect. </a:t>
            </a:r>
          </a:p>
          <a:p>
            <a:pPr marL="342900" indent="-228600" algn="l">
              <a:buFont typeface="Arial" panose="020B0604020202020204" pitchFamily="34" charset="0"/>
              <a:buChar char="•"/>
            </a:pPr>
            <a:r>
              <a:rPr lang="en-US" sz="3200" dirty="0">
                <a:solidFill>
                  <a:srgbClr val="FF0000"/>
                </a:solidFill>
              </a:rPr>
              <a:t>Hebrews 9: 11 </a:t>
            </a:r>
            <a:r>
              <a:rPr lang="en-US" sz="3200" dirty="0"/>
              <a:t>onwards, conveys the Jesus ministry in the heavenly sanctuary brings cleansing to the conscience. </a:t>
            </a:r>
          </a:p>
          <a:p>
            <a:pPr marL="342900" indent="-228600" algn="l">
              <a:buFont typeface="Arial" panose="020B0604020202020204" pitchFamily="34" charset="0"/>
              <a:buChar char="•"/>
            </a:pPr>
            <a:r>
              <a:rPr lang="en-US" sz="3200" dirty="0"/>
              <a:t>So, Paul was making a comparison between the earthly and the heavenly sanctuary and service. Moreover, he was pointing heavily to the New Covenant.</a:t>
            </a:r>
          </a:p>
        </p:txBody>
      </p:sp>
    </p:spTree>
    <p:extLst>
      <p:ext uri="{BB962C8B-B14F-4D97-AF65-F5344CB8AC3E}">
        <p14:creationId xmlns:p14="http://schemas.microsoft.com/office/powerpoint/2010/main" val="3656364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1043</TotalTime>
  <Words>3250</Words>
  <Application>Microsoft Office PowerPoint</Application>
  <PresentationFormat>Widescreen</PresentationFormat>
  <Paragraphs>90</Paragraphs>
  <Slides>38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Aharoni</vt:lpstr>
      <vt:lpstr>Arial</vt:lpstr>
      <vt:lpstr>Calibri</vt:lpstr>
      <vt:lpstr>Calibri Light</vt:lpstr>
      <vt:lpstr>Office Theme</vt:lpstr>
      <vt:lpstr>PowerPoint Presentation</vt:lpstr>
      <vt:lpstr>PowerPoint Presentation</vt:lpstr>
      <vt:lpstr>CHRIST PRIESTLY MINISTRY INAUGURATION</vt:lpstr>
      <vt:lpstr>     </vt:lpstr>
      <vt:lpstr>Hebrews 4:14  14 Seeing then that we have a great high priest, that is passed into the heavens, Jesus the Son of God, let us hold fast our profession.</vt:lpstr>
      <vt:lpstr>HEB 9:12 Neither by the blood of goats and calves, but by his own blood he entered in once into the holy place, having obtained eternal redemption for us. KJV, </vt:lpstr>
      <vt:lpstr>We know its length from the book of Acts. After Christ ascended to heaven (Acts 1:9), His disciples gathered and earnestly prayed for guidance and help in carrying forward the awesome task before them: telling all the world about salvation through their Lord and Saviour, Jesus Christ. They had been told to "wait" for the promised Holy Spirit (Acts 1:4, 8). </vt:lpstr>
      <vt:lpstr>     </vt:lpstr>
      <vt:lpstr>     </vt:lpstr>
      <vt:lpstr>     </vt:lpstr>
      <vt:lpstr>Exodus 24:1-2 King James Version (KJV) 24 And he said unto Moses, Come up unto the Lord, thou, and Aaron, Nadab, and Abihu, and seventy of the elders of Israel; and worship ye afar off. 2 And Moses alone shall come near the Lord: but they shall not come nigh; neither shall the people go up with him.  Exodus 24:18 And Moses went into the midst of the cloud, and gat him up into the mount: and Moses was in the mount forty days and forty nights.  Exodus 30:25-26  25 And thou shalt make it an oil of holy ointment, an ointment compound after the art of the apothecary: it shall be an holy anointing oil. 26 And thou shalt anoint the tabernacle of the congregation therewith, and the ark of the testimony </vt:lpstr>
      <vt:lpstr>In regard to the consecration of the high priest and his associate priests, it is written: "Thou shalt anoint Aaron and his sons, and con­secrate them, that they may minister unto Me in the priest's office. And thou shalt speak unto the children of Israel, saying, This shall be a holy anointing oil unto Me throughout your generations. 'Upon man's flesh shall it not be poured, neither shall ye make any other like it, after the composition of it: it is holy, and it shall be holy unto you." Ex. 30:30-32. </vt:lpstr>
      <vt:lpstr>When the sanctuary was made and its parts were all put together, the following command came to Moses: "Take Aaron and his sons with him, and the gar­ments, and the anointing oil, and a bullock for the sin offering; ... and gather thou all the congregation together unto the door of the tabernacle of the con­gregation.... And Moses said unto the congregation, This is the thing which the Lord commanded to be done." Lev. 8:2-5. </vt:lpstr>
      <vt:lpstr>Moses then brought his brother Aaron and his sons, and washed them in the laver. He clothed them with the sacred robes in which they were to minister in the sanctuary. Fol­lowing this part of the ceremony— </vt:lpstr>
      <vt:lpstr>Aaron's sons also were to be anointed with this holy oil. The Scripture says:  "Thou shalt put upon Aaron the holy garments, and anoint him, and sanctify him ; that he may min­ister unto Me in the priest's office. And thou shalt bring his sons and clothe them with coats : and thou shalt anoint them, as thou didst anoint their father, that they may minister unto Me in the priest's office: for their anointing shall surely be an everlasting priesthood throughout their generations." Ex. 40: 13-15. </vt:lpstr>
      <vt:lpstr> The Scripture says regarding the thorough­ness with which this anointing with the holy oil was actually performed: "Behold, how good and how pleasant it is for brethren to dwell together in unity ! It is like the precious oint­ment upon the head, that ran down upon the beard, even Aaron's beard: that went down to the skirts of his garments." Ps, 133:2.</vt:lpstr>
      <vt:lpstr>It was a most complete service which Moses performed upon his brother when he anointed him with 'the holy oil, in order that Aaron might be consecrated to the sacred and solemn work which was committed to him as the high priest of the earthly sanctuary. This holy oil was used for the purpose of dedicating the sanctuary and its vessels of service, as well as for the consecration of the priests to their ministry. </vt:lpstr>
      <vt:lpstr>This inaugural and consecration service lasted seven days, as will be seen from the following scripture: "Ye shall not go out of the door of the tabernacle of the congregation in seven days, until the days of your consecra­tion be at an end: for seven days shall he consecrate you." Lev. 8:33. </vt:lpstr>
      <vt:lpstr>None who were to take part in the service of the sanctuary were permitted to perform any labour during this time of inauguration and consecration; for we are told in Leviticus 8, therefore shall ye abide at the door of the tabernacle of the congregation day and night seven days, and keep the charge of the Lord, that ye die not: for so I am commanded (Lev 8:35). </vt:lpstr>
      <vt:lpstr>When the week's dedication and consecra­tion service ended, the ministry of the sanc­tuary by the priesthood was officially inau­gurated. Says the Scripture: "It came to pass on the eighth day, that Moses called Aaron and his sons, and the elders of Israel; and he said unto Aaron, Take thee a young calf for a sin offering, and a ram for a burnt offering, without blemish, and offer them before the Lord." Lev. 9:1, 2. </vt:lpstr>
      <vt:lpstr>The people responded to this command of Moses. When Aaron had offered the sacri­fices, and had blessed the people for carrying out this divine instruction, then "there came a fire out from before the Lord, and consumed upon the altar the burnt offering and the fat: which when all the people saw, they shouted, and fell on their faces." Verse 24. The sanctuary service could now be entered upon according to the will and command of God. </vt:lpstr>
      <vt:lpstr>Christ's Anointing as High Priest </vt:lpstr>
      <vt:lpstr>When the angel Gabriel explained to Daniel the significance of the first part of the twenty­ three-hundred-day prophecy by telling him that seventy weeks were determined upon his people and upon the Holy City, the celestial messenger said that the last thing to occur be­fore the end of the seventy-times-seven period was the anointing of the "most holy." These words, "most holy," in the Hebrew are Ko-desh Ko-do-shim Dan. 9:24. The words Ko-desh Ko-do-shim are not applied to people. They are invariably applied to objects, and particu­larly to the inner apartment of the sanctuary. ( Ex. 26:33, 34.) </vt:lpstr>
      <vt:lpstr>PowerPoint Presentation</vt:lpstr>
      <vt:lpstr>Scripture teaches that when the sanctuary and the furniture were finished and ready for service, Moses was commanded to make a holy anointing oil. Ex. 30:22-25. The purpose of the holy oil was to anoint the vessels of the tabernacle, including the holy and the most holy places, and for the anointing of the priests. Verses 26-30.  Strict command was given that this oil was not to go upon any human flesh, save only the priests’, and upon the vessels of the sanctuary. Verses 31-33. To violate this meant being cut off.</vt:lpstr>
      <vt:lpstr>When the tabernacle was set up, Moses was exhorted:  "Thou shalt take the anointing oil, and anoint the tabernacle, and all that is therein, and shalt hallow it, and all the vessels thereof.. . . And thou shalt put upon Aaron the holy garments, and anoint him, and sanctify him; that he may minister unto Me in the priest's office. And thou shalt bring his sons, . . . and thou shalt anoint them, . . . that they may minister unto Me in the priest's office." Ex. 40:9-15.</vt:lpstr>
      <vt:lpstr>When Moses had completed the setting up of the tabernacle, he was commanded to dedicate the sanctuary and to consecrate the priests be­fore- Aaron and his sons entered upon their sacred offices. The account of this dedicatory and consecration service is found in Leviticus 8.</vt:lpstr>
      <vt:lpstr>Aaron and his sons were washed with water from the laver. They were then clothed with the holy garments. Verses 6-9, 13. The holy anointing oil was then applied to the sanctuary and its vessels. All parts of the tabernacle were anointed, including the furnishings in the most holy. Lev. 8:10, 11; Ex. 30:26-28. After the tabernacle and its furnishings, including the holy and the most holy, were anointed, the holy oil of anointing was poured upon the priests, upon Aaron and his sons. Lev. 8:12; Ex. 30:30.</vt:lpstr>
      <vt:lpstr> The Scripture says regarding the thorough­ness with which this anointing with the holy oil was actually performed: "Behold, how good and how pleasant it is for brethren to dwell together in unity ! It is like the precious oint­ment upon the head, that ran down upon the beard, even Aaron's beard: that went down to the skirts of his garments." Ps, 133:1, 2.</vt:lpstr>
      <vt:lpstr>Thus, it is clear that every part of the sanc­tuary was set apart, dedicated, consecrated with the holy anointing oil. But the ministry of the sanctuary by the priests could not begin until after the tabernacle and the priests had been set apart by this sacred service. This dedication of the sacred structure was neces­sary before the priestly service could become effective therein. At the completion of this holy service, Aaron and his sons were prepared to carry forward the ministry of reconciliation with the sacrifices in the holy place. Lev. 9:4, 6, 22, 23. God approved of the dedication of the sanctuary and the consecration of the priesthood. The sanctuary service now was inaugurated.</vt:lpstr>
      <vt:lpstr>Jesus, after He completed His work on earth, was taken to heaven to appear in the presence of God as man's high priest and intercessor. He ascended to minis­ter in the sanctuary which the Lord pitched and not man. Heb. 8:2. Before He entered upon this priestly ministry in heaven, there must needs be a dedication of the heavenly sanctuary and a consecration of the priesthood of that sanctuary. Heb. 9:11-28. Jesus as­cended to heaven forty days after His resurrec­tion. Acts 1:3. According to the announce­ment of the angel Gabriel, recorded in Daniel 9:25-27, Jesus must minister three- and one-half years on earth after He became Messiah.</vt:lpstr>
      <vt:lpstr>His Messianic anointing occurred at His bap­tism in October, 27 A. D. He labored among men three and one-half years following His baptism, and then died as the Lamb of God. Therefore, His ascension took place over three years before the completion of the full 490 years. It is the "most holy" of the heavenly sanctuary which Gabriel declared should be anointed during the seventy times seven years.</vt:lpstr>
      <vt:lpstr>PowerPoint Presentation</vt:lpstr>
      <vt:lpstr>HEB 9:12 Neither by the blood of goats and calves, but by his own blood he entered in once into the holy place, having obtained eternal redemption for us. KJV, </vt:lpstr>
      <vt:lpstr> HEBREWS 9:12</vt:lpstr>
      <vt:lpstr>Hebrews 9:11-12</vt:lpstr>
      <vt:lpstr>Hebrews 1: 3, 9 </vt:lpstr>
      <vt:lpstr>Hebrews 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CHRIST PRIESTLY MINISTRY INAUGURATION</dc:title>
  <dc:creator>Kiwayne Ferron</dc:creator>
  <cp:lastModifiedBy>Kiwayne Ferron</cp:lastModifiedBy>
  <cp:revision>10</cp:revision>
  <dcterms:created xsi:type="dcterms:W3CDTF">2019-02-16T12:43:59Z</dcterms:created>
  <dcterms:modified xsi:type="dcterms:W3CDTF">2026-01-27T02:09:45Z</dcterms:modified>
</cp:coreProperties>
</file>